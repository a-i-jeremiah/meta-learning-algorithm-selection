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Welcome to our presentation. Our project is called Meta-Learning for Algorithm Selection. In simple words, we are teaching a computer program to look at a dataset and predict, before even testing every method, which machine learning method will work best on it. My name is Asamu Caleb Ayomide, and I am presenting this work on behalf of our full research group.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exact question our research group set out to answer: Which machine learning algorithms work best across many different datasets, and which measurable properties of a dataset can predict that success in advance? Three quick points explain why this matters. First, there is no single winner — no one machine learning method performs best on every dataset. Second, testing every method by hand is slow and expensive. Third, our idea is to train a second, lighter model that can predict the right method in advance, just by looking at simple facts about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does this matter? In everyday machine learning work, a person usually has to guess or try out several algorithms before finding the one that fits their data best. This step is called Algorithm Selection, and in research it is known as Meta-Learning, which simply means learning how to learn. If we can predict the right algorithm ahead of time, we save time, save computing cost, and get better results faster. Our group's contribution is a fully data-driven study: twenty real datasets, five well-known algorithms compared fairly, a meta-learner that predicts the best algorithm from dataset features alone, and formal statistical proof that our findings are real and not just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of the project is the data. Our team gathered close to twenty real-world datasets from the Penn Machine Learning Benchmark, usually shortened to PMLB. This is a well-known, trusted public collection of datasets that researchers use to test machine learning methods fairly. The datasets cover three kinds of problems: Binary Classification, where data is sorted into one of two groups; Multiclass Classification, where data is sorted into three or more named groups; and Regression, where the goal is to predict a number instead of a category, such as a price or a score. This variety is important — it means our findings are not limited to just one type of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twenty datasets was tested on five different algorithms, so we could fairly compare them. We used a method called 5-fold stratified cross-validation. In simple words, this splits the data into five equal parts and rotates them, testing each algorithm several times so the result is fair and reliable, not just lucky. The five algorithms are: Random Forest, a large group of decision trees that vote together on the answer; Gradient Boosting, many small models built one after another, each fixing the last one's mistakes; Support Vector Machine, often shortened to SVM, which finds the clearest dividing line between groups of data; k-Nearest Neighbors, often shortened to KNN, which looks at the closest, most similar examples to make its decision; and finally, Neural Network, a layered model loosely inspired by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 is the heart of the whole project — the meta-learner. This part answers our research question directly. Step one: we measure simple, describable facts about each dataset — for example, its size, its number of columns, and how balanced its groups are. These facts are called Meta-Features. Step two: we train a separate model, the Meta-Learner, using those Meta-Features together with the results from testing the five algorithms. It learns the pattern that datasets which look a certain way tend to work best with a certain algorithm. Step three: for a brand-new dataset we have never seen before, the Meta-Learner can now suggest the best algorithm immediately, without testing all five algorithms by hand. That is the practical value of this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result must be more than a lucky guess, so our group used formal statistical tests to prove our findings are trustworthy. First, the Friedman Test checks whether there is any real difference at all among the five algorithms, across all twenty datasets, at the same time. Second, the Nemenyi Test is a careful follow-up that finds exactly which specific pairs of algorithms are different from one another. Third, the Wilcoxon Signed-Rank Test compares two algorithms directly, one pair at a time, to confirm a difference in a very precise way. Together, these three tests give our conclusions real scientific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our main results figure, called a Critical Difference Diagram, taken directly from our repository file figures/figure1_critical_difference.png. Here is how to read it. Each algorithm gets an average rank across all twenty datasets, and a lower rank means better overall performance. Algorithms that are joined by a line on the chart are statistically too close to call — meaning our data cannot confidently say one is better than the other. Algorithms standing apart, with no connecting line, are confidently better or worse than the rest. Our result: Gradient Boosting had the best, meaning lowest, average rank of 2.0, and was the top-performing algorithm on nine of our twenty datasets — more than any other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second half of our research question: which dataset features were most useful for the Meta-Learner's predictions? The chart on the left is taken directly from our repository file figures/figure2_complexity_performance.png, and shows how dataset complexity relates to algorithm performance. On the right, from our repository file figures/table2_meta_feature_importance.csv, are the three most useful Meta-Features. The top one is Mean coefficient of variation, which measures how spread out feature values are relative to their average. Second is Mean skewness, which measures how lopsided the data's distribution is. Third is Feature-to-instance ratio, meaning the number of columns compared to the number of rows in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machine learning pipeline, our group also formally documented the entire experiment using structured, machine-checkable files. This is a distinctive part of our project that most similar studies do not include. We used Extensible Markup Language, shortened to XML, a standard, structured way to write down data so that both people and computers can read it clearly. We defined an XML Schema Definition, shortened to XSD, which is a formal rulebook stating exactly what a valid version of our experiment's data must look like. We used XML Path Language, shortened to XPath, to point to and pull out one exact piece of information from inside a large XML file. And we used XML Query Language, shortened to XQuery, to search through and ask more complex questions of our XML data, and to check that it is correct. Together, these tools give our experiment a formal, verifiable record — not just code and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set out to answer whether dataset meta-features can predict which machine learning algorithm will perform best. Our findings support that they can. Gradient Boosting came out as our strongest overall algorithm, with the best average rank, and features describing how spread out and lopsided a dataset's values are turned out to be the strongest predictors — backed by formal statistical proof, not guesswork. In summary, our group curated twenty varied datasets from a trusted source, tested five algorithms fairly using the same method every time, trained a Meta-Learner to predict the best algorithm in advance, proved our findings with formal statistical tests, and documented the whole study in structured, checkable files. Of course, our results are limited to the twenty datasets we studied, and future work could test more algorithms and more meta-features to make the Meta-Learner even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watching. This research was carried out by our full group: Akindipe Ireoluwawolemi Jeremiah as Machine Learning Engineer, Ajibola as Data Curator and Metadata Specialist, Akinmoju as Extensible Markup Language and XML Schema Definition Architect, Akinwola as XML Path Language and XML Query Language Developer, Akinyele on Visualisation and Statistical Reporting, Akinyemi as Manuscript Lead, and myself, Asamu Caleb Ayomide, as Presentation and Peer-Review Coordinator. Thank you for your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9692640" y="-1280160"/>
            <a:ext cx="4572000" cy="4572000"/>
          </a:xfrm>
          <a:prstGeom prst="ellipse">
            <a:avLst/>
          </a:prstGeom>
          <a:solidFill>
            <a:srgbClr val="065A82">
              <a:alpha val="45000"/>
            </a:srgbClr>
          </a:solidFill>
          <a:ln/>
        </p:spPr>
      </p:sp>
      <p:sp>
        <p:nvSpPr>
          <p:cNvPr id="4" name="Shape 2"/>
          <p:cNvSpPr/>
          <p:nvPr/>
        </p:nvSpPr>
        <p:spPr>
          <a:xfrm>
            <a:off x="-1463040" y="4389120"/>
            <a:ext cx="3657600" cy="3657600"/>
          </a:xfrm>
          <a:prstGeom prst="ellipse">
            <a:avLst/>
          </a:prstGeom>
          <a:solidFill>
            <a:srgbClr val="1C7293">
              <a:alpha val="40000"/>
            </a:srgbClr>
          </a:solidFill>
          <a:ln/>
        </p:spPr>
      </p:sp>
      <p:sp>
        <p:nvSpPr>
          <p:cNvPr id="5" name="Text 3"/>
          <p:cNvSpPr/>
          <p:nvPr/>
        </p:nvSpPr>
        <p:spPr>
          <a:xfrm>
            <a:off x="822960" y="1371600"/>
            <a:ext cx="9144000" cy="365760"/>
          </a:xfrm>
          <a:prstGeom prst="rect">
            <a:avLst/>
          </a:prstGeom>
          <a:noFill/>
          <a:ln/>
        </p:spPr>
        <p:txBody>
          <a:bodyPr wrap="square" rtlCol="0" anchor="ctr"/>
          <a:lstStyle/>
          <a:p>
            <a:pPr indent="0" marL="0">
              <a:buNone/>
            </a:pPr>
            <a:r>
              <a:rPr lang="en-US" sz="1400" b="1" spc="200" kern="0" dirty="0">
                <a:solidFill>
                  <a:srgbClr val="9FB3C8"/>
                </a:solidFill>
                <a:latin typeface="Calibri" pitchFamily="34" charset="0"/>
                <a:ea typeface="Calibri" pitchFamily="34" charset="-122"/>
                <a:cs typeface="Calibri" pitchFamily="34" charset="-120"/>
              </a:rPr>
              <a:t>A GROUP RESEARCH PRESENTATION</a:t>
            </a:r>
            <a:endParaRPr lang="en-US" sz="1400" dirty="0"/>
          </a:p>
        </p:txBody>
      </p:sp>
      <p:sp>
        <p:nvSpPr>
          <p:cNvPr id="6" name="Text 4"/>
          <p:cNvSpPr/>
          <p:nvPr/>
        </p:nvSpPr>
        <p:spPr>
          <a:xfrm>
            <a:off x="822960" y="1828800"/>
            <a:ext cx="10332720" cy="118872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Meta-Learning for Algorithm Selection</a:t>
            </a:r>
            <a:endParaRPr lang="en-US" sz="4400" dirty="0"/>
          </a:p>
        </p:txBody>
      </p:sp>
      <p:sp>
        <p:nvSpPr>
          <p:cNvPr id="7" name="Text 5"/>
          <p:cNvSpPr/>
          <p:nvPr/>
        </p:nvSpPr>
        <p:spPr>
          <a:xfrm>
            <a:off x="822960" y="2971800"/>
            <a:ext cx="9601200" cy="64008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Choosing the best machine learning method automatically, using only the features of a dataset</a:t>
            </a:r>
            <a:endParaRPr lang="en-US" sz="1800" dirty="0"/>
          </a:p>
        </p:txBody>
      </p:sp>
      <p:sp>
        <p:nvSpPr>
          <p:cNvPr id="8" name="Shape 6"/>
          <p:cNvSpPr/>
          <p:nvPr/>
        </p:nvSpPr>
        <p:spPr>
          <a:xfrm>
            <a:off x="822960" y="3794760"/>
            <a:ext cx="2743200" cy="0"/>
          </a:xfrm>
          <a:prstGeom prst="line">
            <a:avLst/>
          </a:prstGeom>
          <a:noFill/>
          <a:ln w="25400">
            <a:solidFill>
              <a:srgbClr val="1C7293"/>
            </a:solidFill>
            <a:prstDash val="solid"/>
          </a:ln>
        </p:spPr>
      </p:sp>
      <p:sp>
        <p:nvSpPr>
          <p:cNvPr id="9" name="Text 7"/>
          <p:cNvSpPr/>
          <p:nvPr/>
        </p:nvSpPr>
        <p:spPr>
          <a:xfrm>
            <a:off x="822960" y="4023360"/>
            <a:ext cx="10058400" cy="365760"/>
          </a:xfrm>
          <a:prstGeom prst="rect">
            <a:avLst/>
          </a:prstGeom>
          <a:noFill/>
          <a:ln/>
        </p:spPr>
        <p:txBody>
          <a:bodyPr wrap="square" rtlCol="0" anchor="ctr"/>
          <a:lstStyle/>
          <a:p>
            <a:pPr indent="0" marL="0">
              <a:buNone/>
            </a:pPr>
            <a:r>
              <a:rPr lang="en-US" sz="1400" b="1" dirty="0">
                <a:solidFill>
                  <a:srgbClr val="9FB3C8"/>
                </a:solidFill>
                <a:latin typeface="Calibri" pitchFamily="34" charset="0"/>
                <a:ea typeface="Calibri" pitchFamily="34" charset="-122"/>
                <a:cs typeface="Calibri" pitchFamily="34" charset="-120"/>
              </a:rPr>
              <a:t>Presented by:  </a:t>
            </a:r>
            <a:pPr indent="0" marL="0">
              <a:buNone/>
            </a:pPr>
            <a:r>
              <a:rPr lang="en-US" sz="1400" dirty="0">
                <a:solidFill>
                  <a:srgbClr val="FFFFFF"/>
                </a:solidFill>
                <a:latin typeface="Calibri" pitchFamily="34" charset="0"/>
                <a:ea typeface="Calibri" pitchFamily="34" charset="-122"/>
                <a:cs typeface="Calibri" pitchFamily="34" charset="-120"/>
              </a:rPr>
              <a:t>Asamu Caleb Ayomide  ·  Presentation &amp; Peer-Review Coordinator</a:t>
            </a:r>
            <a:endParaRPr lang="en-US" sz="1400" dirty="0"/>
          </a:p>
        </p:txBody>
      </p:sp>
      <p:sp>
        <p:nvSpPr>
          <p:cNvPr id="10" name="Text 8"/>
          <p:cNvSpPr/>
          <p:nvPr/>
        </p:nvSpPr>
        <p:spPr>
          <a:xfrm>
            <a:off x="822960" y="4389120"/>
            <a:ext cx="10058400" cy="365760"/>
          </a:xfrm>
          <a:prstGeom prst="rect">
            <a:avLst/>
          </a:prstGeom>
          <a:noFill/>
          <a:ln/>
        </p:spPr>
        <p:txBody>
          <a:bodyPr wrap="square" rtlCol="0" anchor="ctr"/>
          <a:lstStyle/>
          <a:p>
            <a:pPr indent="0" marL="0">
              <a:buNone/>
            </a:pPr>
            <a:r>
              <a:rPr lang="en-US" sz="1300" dirty="0">
                <a:solidFill>
                  <a:srgbClr val="9FB3C8"/>
                </a:solidFill>
                <a:latin typeface="Calibri" pitchFamily="34" charset="0"/>
                <a:ea typeface="Calibri" pitchFamily="34" charset="-122"/>
                <a:cs typeface="Calibri" pitchFamily="34" charset="-120"/>
              </a:rPr>
              <a:t>On behalf of the full research group  ·  Department of Information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The Research Question</a:t>
            </a:r>
            <a:endParaRPr lang="en-US" sz="3200" dirty="0"/>
          </a:p>
        </p:txBody>
      </p:sp>
      <p:sp>
        <p:nvSpPr>
          <p:cNvPr id="3" name="Shape 1"/>
          <p:cNvSpPr/>
          <p:nvPr/>
        </p:nvSpPr>
        <p:spPr>
          <a:xfrm>
            <a:off x="640080" y="1234440"/>
            <a:ext cx="10881360" cy="2377440"/>
          </a:xfrm>
          <a:prstGeom prst="rect">
            <a:avLst>
              <a:gd name="adj" fmla="val 4615"/>
            </a:avLst>
          </a:prstGeom>
          <a:solidFill>
            <a:srgbClr val="F4F7F9"/>
          </a:solidFill>
          <a:ln/>
        </p:spPr>
      </p:sp>
      <p:sp>
        <p:nvSpPr>
          <p:cNvPr id="4" name="Text 2"/>
          <p:cNvSpPr/>
          <p:nvPr/>
        </p:nvSpPr>
        <p:spPr>
          <a:xfrm>
            <a:off x="1005840" y="1508760"/>
            <a:ext cx="10149840" cy="1828800"/>
          </a:xfrm>
          <a:prstGeom prst="rect">
            <a:avLst/>
          </a:prstGeom>
          <a:noFill/>
          <a:ln/>
        </p:spPr>
        <p:txBody>
          <a:bodyPr wrap="square" rtlCol="0" anchor="ctr"/>
          <a:lstStyle/>
          <a:p>
            <a:pPr indent="0" marL="0">
              <a:buNone/>
            </a:pPr>
            <a:r>
              <a:rPr lang="en-US" sz="2400" i="1" dirty="0">
                <a:solidFill>
                  <a:srgbClr val="21295C"/>
                </a:solidFill>
                <a:latin typeface="Cambria" pitchFamily="34" charset="0"/>
                <a:ea typeface="Cambria" pitchFamily="34" charset="-122"/>
                <a:cs typeface="Cambria" pitchFamily="34" charset="-120"/>
              </a:rPr>
              <a:t>Which machine learning algorithms work best across many different datasets — and which measurable properties of a dataset can predict that success in advance?</a:t>
            </a:r>
            <a:endParaRPr lang="en-US" sz="2400" dirty="0"/>
          </a:p>
        </p:txBody>
      </p:sp>
      <p:sp>
        <p:nvSpPr>
          <p:cNvPr id="5" name="Shape 3"/>
          <p:cNvSpPr/>
          <p:nvPr/>
        </p:nvSpPr>
        <p:spPr>
          <a:xfrm>
            <a:off x="640080" y="3977640"/>
            <a:ext cx="502920" cy="502920"/>
          </a:xfrm>
          <a:prstGeom prst="ellipse">
            <a:avLst/>
          </a:prstGeom>
          <a:solidFill>
            <a:srgbClr val="065A82"/>
          </a:solidFill>
          <a:ln/>
        </p:spPr>
      </p:sp>
      <p:sp>
        <p:nvSpPr>
          <p:cNvPr id="6" name="Text 4"/>
          <p:cNvSpPr/>
          <p:nvPr/>
        </p:nvSpPr>
        <p:spPr>
          <a:xfrm>
            <a:off x="640080" y="3977640"/>
            <a:ext cx="502920" cy="502920"/>
          </a:xfrm>
          <a:prstGeom prst="rect">
            <a:avLst/>
          </a:prstGeom>
          <a:noFill/>
          <a:ln/>
        </p:spPr>
        <p:txBody>
          <a:bodyPr wrap="square"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1</a:t>
            </a:r>
            <a:endParaRPr lang="en-US" sz="1210" dirty="0"/>
          </a:p>
        </p:txBody>
      </p:sp>
      <p:sp>
        <p:nvSpPr>
          <p:cNvPr id="7" name="Text 5"/>
          <p:cNvSpPr/>
          <p:nvPr/>
        </p:nvSpPr>
        <p:spPr>
          <a:xfrm>
            <a:off x="1325880" y="3886200"/>
            <a:ext cx="292608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No single winner</a:t>
            </a:r>
            <a:endParaRPr lang="en-US" sz="1500" dirty="0"/>
          </a:p>
        </p:txBody>
      </p:sp>
      <p:sp>
        <p:nvSpPr>
          <p:cNvPr id="8" name="Text 6"/>
          <p:cNvSpPr/>
          <p:nvPr/>
        </p:nvSpPr>
        <p:spPr>
          <a:xfrm>
            <a:off x="640080" y="4343400"/>
            <a:ext cx="3429000" cy="1463040"/>
          </a:xfrm>
          <a:prstGeom prst="rect">
            <a:avLst/>
          </a:prstGeom>
          <a:noFill/>
          <a:ln/>
        </p:spPr>
        <p:txBody>
          <a:bodyPr wrap="square" rtlCol="0" anchor="ctr"/>
          <a:lstStyle/>
          <a:p>
            <a:pPr indent="0" marL="0">
              <a:buNone/>
            </a:pPr>
            <a:r>
              <a:rPr lang="en-US" sz="1250" dirty="0">
                <a:solidFill>
                  <a:srgbClr val="5A6B77"/>
                </a:solidFill>
                <a:latin typeface="Calibri" pitchFamily="34" charset="0"/>
                <a:ea typeface="Calibri" pitchFamily="34" charset="-122"/>
                <a:cs typeface="Calibri" pitchFamily="34" charset="-120"/>
              </a:rPr>
              <a:t>No one machine learning method performs best on every dataset. The best choice depends on the data itself.</a:t>
            </a:r>
            <a:endParaRPr lang="en-US" sz="1250" dirty="0"/>
          </a:p>
        </p:txBody>
      </p:sp>
      <p:sp>
        <p:nvSpPr>
          <p:cNvPr id="9" name="Shape 7"/>
          <p:cNvSpPr/>
          <p:nvPr/>
        </p:nvSpPr>
        <p:spPr>
          <a:xfrm>
            <a:off x="4343400" y="3977640"/>
            <a:ext cx="502920" cy="502920"/>
          </a:xfrm>
          <a:prstGeom prst="ellipse">
            <a:avLst/>
          </a:prstGeom>
          <a:solidFill>
            <a:srgbClr val="065A82"/>
          </a:solidFill>
          <a:ln/>
        </p:spPr>
      </p:sp>
      <p:sp>
        <p:nvSpPr>
          <p:cNvPr id="10" name="Text 8"/>
          <p:cNvSpPr/>
          <p:nvPr/>
        </p:nvSpPr>
        <p:spPr>
          <a:xfrm>
            <a:off x="4343400" y="3977640"/>
            <a:ext cx="502920" cy="502920"/>
          </a:xfrm>
          <a:prstGeom prst="rect">
            <a:avLst/>
          </a:prstGeom>
          <a:noFill/>
          <a:ln/>
        </p:spPr>
        <p:txBody>
          <a:bodyPr wrap="square"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2</a:t>
            </a:r>
            <a:endParaRPr lang="en-US" sz="1210" dirty="0"/>
          </a:p>
        </p:txBody>
      </p:sp>
      <p:sp>
        <p:nvSpPr>
          <p:cNvPr id="11" name="Text 9"/>
          <p:cNvSpPr/>
          <p:nvPr/>
        </p:nvSpPr>
        <p:spPr>
          <a:xfrm>
            <a:off x="5029200" y="3886200"/>
            <a:ext cx="292608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A costly problem</a:t>
            </a:r>
            <a:endParaRPr lang="en-US" sz="1500" dirty="0"/>
          </a:p>
        </p:txBody>
      </p:sp>
      <p:sp>
        <p:nvSpPr>
          <p:cNvPr id="12" name="Text 10"/>
          <p:cNvSpPr/>
          <p:nvPr/>
        </p:nvSpPr>
        <p:spPr>
          <a:xfrm>
            <a:off x="4343400" y="4343400"/>
            <a:ext cx="3429000" cy="1463040"/>
          </a:xfrm>
          <a:prstGeom prst="rect">
            <a:avLst/>
          </a:prstGeom>
          <a:noFill/>
          <a:ln/>
        </p:spPr>
        <p:txBody>
          <a:bodyPr wrap="square" rtlCol="0" anchor="ctr"/>
          <a:lstStyle/>
          <a:p>
            <a:pPr indent="0" marL="0">
              <a:buNone/>
            </a:pPr>
            <a:r>
              <a:rPr lang="en-US" sz="1250" dirty="0">
                <a:solidFill>
                  <a:srgbClr val="5A6B77"/>
                </a:solidFill>
                <a:latin typeface="Calibri" pitchFamily="34" charset="0"/>
                <a:ea typeface="Calibri" pitchFamily="34" charset="-122"/>
                <a:cs typeface="Calibri" pitchFamily="34" charset="-120"/>
              </a:rPr>
              <a:t>Testing every method by hand, on every new dataset, takes a lot of time and computing power.</a:t>
            </a:r>
            <a:endParaRPr lang="en-US" sz="1250" dirty="0"/>
          </a:p>
        </p:txBody>
      </p:sp>
      <p:sp>
        <p:nvSpPr>
          <p:cNvPr id="13" name="Shape 11"/>
          <p:cNvSpPr/>
          <p:nvPr/>
        </p:nvSpPr>
        <p:spPr>
          <a:xfrm>
            <a:off x="8046720" y="3977640"/>
            <a:ext cx="502920" cy="502920"/>
          </a:xfrm>
          <a:prstGeom prst="ellipse">
            <a:avLst/>
          </a:prstGeom>
          <a:solidFill>
            <a:srgbClr val="1C7293"/>
          </a:solidFill>
          <a:ln/>
        </p:spPr>
      </p:sp>
      <p:sp>
        <p:nvSpPr>
          <p:cNvPr id="14" name="Text 12"/>
          <p:cNvSpPr/>
          <p:nvPr/>
        </p:nvSpPr>
        <p:spPr>
          <a:xfrm>
            <a:off x="8046720" y="3977640"/>
            <a:ext cx="502920" cy="502920"/>
          </a:xfrm>
          <a:prstGeom prst="rect">
            <a:avLst/>
          </a:prstGeom>
          <a:noFill/>
          <a:ln/>
        </p:spPr>
        <p:txBody>
          <a:bodyPr wrap="square" rtlCol="0" anchor="ctr"/>
          <a:lstStyle/>
          <a:p>
            <a:pPr algn="ctr" indent="0" marL="0">
              <a:buNone/>
            </a:pPr>
            <a:r>
              <a:rPr lang="en-US" sz="1210" b="1" dirty="0">
                <a:solidFill>
                  <a:srgbClr val="FFFFFF"/>
                </a:solidFill>
                <a:latin typeface="Calibri" pitchFamily="34" charset="0"/>
                <a:ea typeface="Calibri" pitchFamily="34" charset="-122"/>
                <a:cs typeface="Calibri" pitchFamily="34" charset="-120"/>
              </a:rPr>
              <a:t>3</a:t>
            </a:r>
            <a:endParaRPr lang="en-US" sz="1210" dirty="0"/>
          </a:p>
        </p:txBody>
      </p:sp>
      <p:sp>
        <p:nvSpPr>
          <p:cNvPr id="15" name="Text 13"/>
          <p:cNvSpPr/>
          <p:nvPr/>
        </p:nvSpPr>
        <p:spPr>
          <a:xfrm>
            <a:off x="8732520" y="3886200"/>
            <a:ext cx="292608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Our idea</a:t>
            </a:r>
            <a:endParaRPr lang="en-US" sz="1500" dirty="0"/>
          </a:p>
        </p:txBody>
      </p:sp>
      <p:sp>
        <p:nvSpPr>
          <p:cNvPr id="16" name="Text 14"/>
          <p:cNvSpPr/>
          <p:nvPr/>
        </p:nvSpPr>
        <p:spPr>
          <a:xfrm>
            <a:off x="8046720" y="4343400"/>
            <a:ext cx="3429000" cy="1463040"/>
          </a:xfrm>
          <a:prstGeom prst="rect">
            <a:avLst/>
          </a:prstGeom>
          <a:noFill/>
          <a:ln/>
        </p:spPr>
        <p:txBody>
          <a:bodyPr wrap="square" rtlCol="0" anchor="ctr"/>
          <a:lstStyle/>
          <a:p>
            <a:pPr indent="0" marL="0">
              <a:buNone/>
            </a:pPr>
            <a:r>
              <a:rPr lang="en-US" sz="1250" dirty="0">
                <a:solidFill>
                  <a:srgbClr val="5A6B77"/>
                </a:solidFill>
                <a:latin typeface="Calibri" pitchFamily="34" charset="0"/>
                <a:ea typeface="Calibri" pitchFamily="34" charset="-122"/>
                <a:cs typeface="Calibri" pitchFamily="34" charset="-120"/>
              </a:rPr>
              <a:t>Teach a second, lighter model to predict the right method in advance, using simple facts about the dataset.</a:t>
            </a:r>
            <a:endParaRPr lang="en-US" sz="1250" dirty="0"/>
          </a:p>
        </p:txBody>
      </p:sp>
      <p:sp>
        <p:nvSpPr>
          <p:cNvPr id="17" name="Text 15"/>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Why This Problem Matters</a:t>
            </a:r>
            <a:endParaRPr lang="en-US" sz="3200" dirty="0"/>
          </a:p>
        </p:txBody>
      </p:sp>
      <p:sp>
        <p:nvSpPr>
          <p:cNvPr id="3" name="Shape 1"/>
          <p:cNvSpPr/>
          <p:nvPr/>
        </p:nvSpPr>
        <p:spPr>
          <a:xfrm>
            <a:off x="640080" y="1371600"/>
            <a:ext cx="5212080" cy="4663440"/>
          </a:xfrm>
          <a:prstGeom prst="rect">
            <a:avLst>
              <a:gd name="adj" fmla="val 2353"/>
            </a:avLst>
          </a:prstGeom>
          <a:solidFill>
            <a:srgbClr val="F4F7F9"/>
          </a:solidFill>
          <a:ln/>
        </p:spPr>
      </p:sp>
      <p:sp>
        <p:nvSpPr>
          <p:cNvPr id="4" name="Text 2"/>
          <p:cNvSpPr/>
          <p:nvPr/>
        </p:nvSpPr>
        <p:spPr>
          <a:xfrm>
            <a:off x="914400" y="1600200"/>
            <a:ext cx="4663440" cy="365760"/>
          </a:xfrm>
          <a:prstGeom prst="rect">
            <a:avLst/>
          </a:prstGeom>
          <a:noFill/>
          <a:ln/>
        </p:spPr>
        <p:txBody>
          <a:bodyPr wrap="square"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Algorithm Selection</a:t>
            </a:r>
            <a:endParaRPr lang="en-US" sz="1600" dirty="0"/>
          </a:p>
        </p:txBody>
      </p:sp>
      <p:sp>
        <p:nvSpPr>
          <p:cNvPr id="5" name="Text 3"/>
          <p:cNvSpPr/>
          <p:nvPr/>
        </p:nvSpPr>
        <p:spPr>
          <a:xfrm>
            <a:off x="914400" y="2011680"/>
            <a:ext cx="4663440" cy="1463040"/>
          </a:xfrm>
          <a:prstGeom prst="rect">
            <a:avLst/>
          </a:prstGeom>
          <a:noFill/>
          <a:ln/>
        </p:spPr>
        <p:txBody>
          <a:bodyPr wrap="square" rtlCol="0" anchor="t"/>
          <a:lstStyle/>
          <a:p>
            <a:pPr indent="0" marL="0">
              <a:buNone/>
            </a:pPr>
            <a:r>
              <a:rPr lang="en-US" sz="1350" dirty="0">
                <a:solidFill>
                  <a:srgbClr val="1F2933"/>
                </a:solidFill>
                <a:latin typeface="Calibri" pitchFamily="34" charset="0"/>
                <a:ea typeface="Calibri" pitchFamily="34" charset="-122"/>
                <a:cs typeface="Calibri" pitchFamily="34" charset="-120"/>
              </a:rPr>
              <a:t>In everyday machine learning work, a person usually has to guess, or try out, several algorithms before finding the one that fits their data best. This step is called Algorithm Selection. It is known in research as Meta-Learning, which simply means "learning how to learn."</a:t>
            </a:r>
            <a:endParaRPr lang="en-US" sz="1350" dirty="0"/>
          </a:p>
        </p:txBody>
      </p:sp>
      <p:sp>
        <p:nvSpPr>
          <p:cNvPr id="6" name="Text 4"/>
          <p:cNvSpPr/>
          <p:nvPr/>
        </p:nvSpPr>
        <p:spPr>
          <a:xfrm>
            <a:off x="914400" y="3657600"/>
            <a:ext cx="4663440" cy="1188720"/>
          </a:xfrm>
          <a:prstGeom prst="rect">
            <a:avLst/>
          </a:prstGeom>
          <a:noFill/>
          <a:ln/>
        </p:spPr>
        <p:txBody>
          <a:bodyPr wrap="square" rtlCol="0" anchor="ctr"/>
          <a:lstStyle/>
          <a:p>
            <a:pPr indent="0" marL="0">
              <a:buNone/>
            </a:pPr>
            <a:r>
              <a:rPr lang="en-US" sz="1350" i="1" dirty="0">
                <a:solidFill>
                  <a:srgbClr val="1F2933"/>
                </a:solidFill>
                <a:latin typeface="Calibri" pitchFamily="34" charset="0"/>
                <a:ea typeface="Calibri" pitchFamily="34" charset="-122"/>
                <a:cs typeface="Calibri" pitchFamily="34" charset="-120"/>
              </a:rPr>
              <a:t>If we can predict the right algorithm ahead of time, we save time, save computing cost, and get better results faster.</a:t>
            </a:r>
            <a:endParaRPr lang="en-US" sz="1350" dirty="0"/>
          </a:p>
        </p:txBody>
      </p:sp>
      <p:sp>
        <p:nvSpPr>
          <p:cNvPr id="7" name="Shape 5"/>
          <p:cNvSpPr/>
          <p:nvPr/>
        </p:nvSpPr>
        <p:spPr>
          <a:xfrm>
            <a:off x="6080760" y="1371600"/>
            <a:ext cx="5468112" cy="4663440"/>
          </a:xfrm>
          <a:prstGeom prst="rect">
            <a:avLst>
              <a:gd name="adj" fmla="val 2353"/>
            </a:avLst>
          </a:prstGeom>
          <a:solidFill>
            <a:srgbClr val="21295C"/>
          </a:solidFill>
          <a:ln/>
        </p:spPr>
      </p:sp>
      <p:sp>
        <p:nvSpPr>
          <p:cNvPr id="8" name="Text 6"/>
          <p:cNvSpPr/>
          <p:nvPr/>
        </p:nvSpPr>
        <p:spPr>
          <a:xfrm>
            <a:off x="6355080" y="1600200"/>
            <a:ext cx="4937760" cy="365760"/>
          </a:xfrm>
          <a:prstGeom prst="rect">
            <a:avLst/>
          </a:prstGeom>
          <a:noFill/>
          <a:ln/>
        </p:spPr>
        <p:txBody>
          <a:bodyPr wrap="square" rtlCol="0" anchor="ctr"/>
          <a:lstStyle/>
          <a:p>
            <a:pPr indent="0" marL="0">
              <a:buNone/>
            </a:pPr>
            <a:r>
              <a:rPr lang="en-US" sz="1600" b="1" dirty="0">
                <a:solidFill>
                  <a:srgbClr val="9FB3C8"/>
                </a:solidFill>
                <a:latin typeface="Calibri" pitchFamily="34" charset="0"/>
                <a:ea typeface="Calibri" pitchFamily="34" charset="-122"/>
                <a:cs typeface="Calibri" pitchFamily="34" charset="-120"/>
              </a:rPr>
              <a:t>Our Contribution</a:t>
            </a:r>
            <a:endParaRPr lang="en-US" sz="1600" dirty="0"/>
          </a:p>
        </p:txBody>
      </p:sp>
      <p:sp>
        <p:nvSpPr>
          <p:cNvPr id="9" name="Text 7"/>
          <p:cNvSpPr/>
          <p:nvPr/>
        </p:nvSpPr>
        <p:spPr>
          <a:xfrm>
            <a:off x="6355080" y="2057400"/>
            <a:ext cx="4937760" cy="3749040"/>
          </a:xfrm>
          <a:prstGeom prst="rect">
            <a:avLst/>
          </a:prstGeom>
          <a:noFill/>
          <a:ln/>
        </p:spPr>
        <p:txBody>
          <a:bodyPr wrap="square" rtlCol="0" anchor="t"/>
          <a:lstStyle/>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A fully data-driven, reproducible study — every claim is backed by a table, a figure, or code output.</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Twenty real, varied datasets from a trusted public source.</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Five well-known algorithms, compared fairly using the same testing method.</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A meta-learner that predicts the best algorithm from dataset features alone.</a:t>
            </a:r>
            <a:endParaRPr lang="en-US" sz="1300" dirty="0"/>
          </a:p>
          <a:p>
            <a:pPr marL="342900" indent="-342900">
              <a:spcAft>
                <a:spcPts val="1000"/>
              </a:spcAft>
              <a:buSzPct val="100000"/>
              <a:buChar char="•"/>
            </a:pPr>
            <a:r>
              <a:rPr lang="en-US" sz="1300" dirty="0">
                <a:solidFill>
                  <a:srgbClr val="FFFFFF"/>
                </a:solidFill>
                <a:latin typeface="Calibri" pitchFamily="34" charset="0"/>
                <a:ea typeface="Calibri" pitchFamily="34" charset="-122"/>
                <a:cs typeface="Calibri" pitchFamily="34" charset="-120"/>
              </a:rPr>
              <a:t>Formal statistical proof, not just a guess, that the differences we find are real.</a:t>
            </a:r>
            <a:endParaRPr lang="en-US" sz="1300" dirty="0"/>
          </a:p>
        </p:txBody>
      </p:sp>
      <p:sp>
        <p:nvSpPr>
          <p:cNvPr id="10" name="Text 8"/>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Step 1: The Data</a:t>
            </a:r>
            <a:endParaRPr lang="en-US" sz="3200" dirty="0"/>
          </a:p>
        </p:txBody>
      </p:sp>
      <p:sp>
        <p:nvSpPr>
          <p:cNvPr id="3" name="Shape 1"/>
          <p:cNvSpPr/>
          <p:nvPr/>
        </p:nvSpPr>
        <p:spPr>
          <a:xfrm>
            <a:off x="640080" y="1371600"/>
            <a:ext cx="3108960" cy="4663440"/>
          </a:xfrm>
          <a:prstGeom prst="rect">
            <a:avLst>
              <a:gd name="adj" fmla="val 3529"/>
            </a:avLst>
          </a:prstGeom>
          <a:solidFill>
            <a:srgbClr val="065A82"/>
          </a:solidFill>
          <a:ln/>
        </p:spPr>
      </p:sp>
      <p:sp>
        <p:nvSpPr>
          <p:cNvPr id="4" name="Text 2"/>
          <p:cNvSpPr/>
          <p:nvPr/>
        </p:nvSpPr>
        <p:spPr>
          <a:xfrm>
            <a:off x="640080" y="2286000"/>
            <a:ext cx="3108960" cy="1097280"/>
          </a:xfrm>
          <a:prstGeom prst="rect">
            <a:avLst/>
          </a:prstGeom>
          <a:noFill/>
          <a:ln/>
        </p:spPr>
        <p:txBody>
          <a:bodyPr wrap="square"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~20</a:t>
            </a:r>
            <a:endParaRPr lang="en-US" sz="6400" dirty="0"/>
          </a:p>
        </p:txBody>
      </p:sp>
      <p:sp>
        <p:nvSpPr>
          <p:cNvPr id="5" name="Text 3"/>
          <p:cNvSpPr/>
          <p:nvPr/>
        </p:nvSpPr>
        <p:spPr>
          <a:xfrm>
            <a:off x="640080" y="3383280"/>
            <a:ext cx="3108960" cy="45720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real-world datasets</a:t>
            </a:r>
            <a:endParaRPr lang="en-US" sz="1400" dirty="0"/>
          </a:p>
        </p:txBody>
      </p:sp>
      <p:sp>
        <p:nvSpPr>
          <p:cNvPr id="6" name="Text 4"/>
          <p:cNvSpPr/>
          <p:nvPr/>
        </p:nvSpPr>
        <p:spPr>
          <a:xfrm>
            <a:off x="914400" y="4114800"/>
            <a:ext cx="2560320" cy="1645920"/>
          </a:xfrm>
          <a:prstGeom prst="rect">
            <a:avLst/>
          </a:prstGeom>
          <a:noFill/>
          <a:ln/>
        </p:spPr>
        <p:txBody>
          <a:bodyPr wrap="square" rtlCol="0" anchor="t"/>
          <a:lstStyle/>
          <a:p>
            <a:pPr algn="ctr" indent="0" marL="0">
              <a:buNone/>
            </a:pPr>
            <a:r>
              <a:rPr lang="en-US" sz="1150" dirty="0">
                <a:solidFill>
                  <a:srgbClr val="E4ECF5"/>
                </a:solidFill>
                <a:latin typeface="Calibri" pitchFamily="34" charset="0"/>
                <a:ea typeface="Calibri" pitchFamily="34" charset="-122"/>
                <a:cs typeface="Calibri" pitchFamily="34" charset="-120"/>
              </a:rPr>
              <a:t>Taken from the Penn Machine Learning Benchmark (PMLB), a well-known, trusted public collection of datasets used for testing machine learning methods.</a:t>
            </a:r>
            <a:endParaRPr lang="en-US" sz="1150" dirty="0"/>
          </a:p>
        </p:txBody>
      </p:sp>
      <p:sp>
        <p:nvSpPr>
          <p:cNvPr id="7" name="Shape 5"/>
          <p:cNvSpPr/>
          <p:nvPr/>
        </p:nvSpPr>
        <p:spPr>
          <a:xfrm>
            <a:off x="3977640" y="1463040"/>
            <a:ext cx="7589520" cy="1325880"/>
          </a:xfrm>
          <a:prstGeom prst="rect">
            <a:avLst>
              <a:gd name="adj" fmla="val 6897"/>
            </a:avLst>
          </a:prstGeom>
          <a:solidFill>
            <a:srgbClr val="F4F7F9"/>
          </a:solidFill>
          <a:ln/>
        </p:spPr>
      </p:sp>
      <p:sp>
        <p:nvSpPr>
          <p:cNvPr id="8" name="Shape 6"/>
          <p:cNvSpPr/>
          <p:nvPr/>
        </p:nvSpPr>
        <p:spPr>
          <a:xfrm>
            <a:off x="4206240" y="1847088"/>
            <a:ext cx="548640" cy="548640"/>
          </a:xfrm>
          <a:prstGeom prst="ellipse">
            <a:avLst/>
          </a:prstGeom>
          <a:solidFill>
            <a:srgbClr val="1C7293"/>
          </a:solidFill>
          <a:ln/>
        </p:spPr>
      </p:sp>
      <p:sp>
        <p:nvSpPr>
          <p:cNvPr id="9" name="Text 7"/>
          <p:cNvSpPr/>
          <p:nvPr/>
        </p:nvSpPr>
        <p:spPr>
          <a:xfrm>
            <a:off x="4206240" y="1847088"/>
            <a:ext cx="548640" cy="548640"/>
          </a:xfrm>
          <a:prstGeom prst="rect">
            <a:avLst/>
          </a:prstGeom>
          <a:noFill/>
          <a:ln/>
        </p:spPr>
        <p:txBody>
          <a:bodyPr wrap="square"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10" name="Text 8"/>
          <p:cNvSpPr/>
          <p:nvPr/>
        </p:nvSpPr>
        <p:spPr>
          <a:xfrm>
            <a:off x="4983480" y="1600200"/>
            <a:ext cx="640080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Binary Classification</a:t>
            </a:r>
            <a:endParaRPr lang="en-US" sz="1500" dirty="0"/>
          </a:p>
        </p:txBody>
      </p:sp>
      <p:sp>
        <p:nvSpPr>
          <p:cNvPr id="11" name="Text 9"/>
          <p:cNvSpPr/>
          <p:nvPr/>
        </p:nvSpPr>
        <p:spPr>
          <a:xfrm>
            <a:off x="4983480" y="2011680"/>
            <a:ext cx="6400800" cy="640080"/>
          </a:xfrm>
          <a:prstGeom prst="rect">
            <a:avLst/>
          </a:prstGeom>
          <a:noFill/>
          <a:ln/>
        </p:spPr>
        <p:txBody>
          <a:bodyPr wrap="square" rtlCol="0" anchor="ctr"/>
          <a:lstStyle/>
          <a:p>
            <a:pPr indent="0" marL="0">
              <a:buNone/>
            </a:pPr>
            <a:r>
              <a:rPr lang="en-US" sz="1250" dirty="0">
                <a:solidFill>
                  <a:srgbClr val="5A6B77"/>
                </a:solidFill>
                <a:latin typeface="Calibri" pitchFamily="34" charset="0"/>
                <a:ea typeface="Calibri" pitchFamily="34" charset="-122"/>
                <a:cs typeface="Calibri" pitchFamily="34" charset="-120"/>
              </a:rPr>
              <a:t>Sorting data into one of two groups — for example, "yes" or "no."</a:t>
            </a:r>
            <a:endParaRPr lang="en-US" sz="1250" dirty="0"/>
          </a:p>
        </p:txBody>
      </p:sp>
      <p:sp>
        <p:nvSpPr>
          <p:cNvPr id="12" name="Shape 10"/>
          <p:cNvSpPr/>
          <p:nvPr/>
        </p:nvSpPr>
        <p:spPr>
          <a:xfrm>
            <a:off x="3977640" y="3063240"/>
            <a:ext cx="7589520" cy="1325880"/>
          </a:xfrm>
          <a:prstGeom prst="rect">
            <a:avLst>
              <a:gd name="adj" fmla="val 6897"/>
            </a:avLst>
          </a:prstGeom>
          <a:solidFill>
            <a:srgbClr val="F4F7F9"/>
          </a:solidFill>
          <a:ln/>
        </p:spPr>
      </p:sp>
      <p:sp>
        <p:nvSpPr>
          <p:cNvPr id="13" name="Shape 11"/>
          <p:cNvSpPr/>
          <p:nvPr/>
        </p:nvSpPr>
        <p:spPr>
          <a:xfrm>
            <a:off x="4206240" y="3447288"/>
            <a:ext cx="548640" cy="548640"/>
          </a:xfrm>
          <a:prstGeom prst="ellipse">
            <a:avLst/>
          </a:prstGeom>
          <a:solidFill>
            <a:srgbClr val="1C7293"/>
          </a:solidFill>
          <a:ln/>
        </p:spPr>
      </p:sp>
      <p:sp>
        <p:nvSpPr>
          <p:cNvPr id="14" name="Text 12"/>
          <p:cNvSpPr/>
          <p:nvPr/>
        </p:nvSpPr>
        <p:spPr>
          <a:xfrm>
            <a:off x="4206240" y="3447288"/>
            <a:ext cx="548640" cy="548640"/>
          </a:xfrm>
          <a:prstGeom prst="rect">
            <a:avLst/>
          </a:prstGeom>
          <a:noFill/>
          <a:ln/>
        </p:spPr>
        <p:txBody>
          <a:bodyPr wrap="square"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5" name="Text 13"/>
          <p:cNvSpPr/>
          <p:nvPr/>
        </p:nvSpPr>
        <p:spPr>
          <a:xfrm>
            <a:off x="4983480" y="3200400"/>
            <a:ext cx="640080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Multiclass Classification</a:t>
            </a:r>
            <a:endParaRPr lang="en-US" sz="1500" dirty="0"/>
          </a:p>
        </p:txBody>
      </p:sp>
      <p:sp>
        <p:nvSpPr>
          <p:cNvPr id="16" name="Text 14"/>
          <p:cNvSpPr/>
          <p:nvPr/>
        </p:nvSpPr>
        <p:spPr>
          <a:xfrm>
            <a:off x="4983480" y="3611880"/>
            <a:ext cx="6400800" cy="640080"/>
          </a:xfrm>
          <a:prstGeom prst="rect">
            <a:avLst/>
          </a:prstGeom>
          <a:noFill/>
          <a:ln/>
        </p:spPr>
        <p:txBody>
          <a:bodyPr wrap="square" rtlCol="0" anchor="ctr"/>
          <a:lstStyle/>
          <a:p>
            <a:pPr indent="0" marL="0">
              <a:buNone/>
            </a:pPr>
            <a:r>
              <a:rPr lang="en-US" sz="1250" dirty="0">
                <a:solidFill>
                  <a:srgbClr val="5A6B77"/>
                </a:solidFill>
                <a:latin typeface="Calibri" pitchFamily="34" charset="0"/>
                <a:ea typeface="Calibri" pitchFamily="34" charset="-122"/>
                <a:cs typeface="Calibri" pitchFamily="34" charset="-120"/>
              </a:rPr>
              <a:t>Sorting data into three or more named groups.</a:t>
            </a:r>
            <a:endParaRPr lang="en-US" sz="1250" dirty="0"/>
          </a:p>
        </p:txBody>
      </p:sp>
      <p:sp>
        <p:nvSpPr>
          <p:cNvPr id="17" name="Shape 15"/>
          <p:cNvSpPr/>
          <p:nvPr/>
        </p:nvSpPr>
        <p:spPr>
          <a:xfrm>
            <a:off x="3977640" y="4663440"/>
            <a:ext cx="7589520" cy="1325880"/>
          </a:xfrm>
          <a:prstGeom prst="rect">
            <a:avLst>
              <a:gd name="adj" fmla="val 6897"/>
            </a:avLst>
          </a:prstGeom>
          <a:solidFill>
            <a:srgbClr val="F4F7F9"/>
          </a:solidFill>
          <a:ln/>
        </p:spPr>
      </p:sp>
      <p:sp>
        <p:nvSpPr>
          <p:cNvPr id="18" name="Shape 16"/>
          <p:cNvSpPr/>
          <p:nvPr/>
        </p:nvSpPr>
        <p:spPr>
          <a:xfrm>
            <a:off x="4206240" y="5047488"/>
            <a:ext cx="548640" cy="548640"/>
          </a:xfrm>
          <a:prstGeom prst="ellipse">
            <a:avLst/>
          </a:prstGeom>
          <a:solidFill>
            <a:srgbClr val="1C7293"/>
          </a:solidFill>
          <a:ln/>
        </p:spPr>
      </p:sp>
      <p:sp>
        <p:nvSpPr>
          <p:cNvPr id="19" name="Text 17"/>
          <p:cNvSpPr/>
          <p:nvPr/>
        </p:nvSpPr>
        <p:spPr>
          <a:xfrm>
            <a:off x="4206240" y="5047488"/>
            <a:ext cx="548640" cy="548640"/>
          </a:xfrm>
          <a:prstGeom prst="rect">
            <a:avLst/>
          </a:prstGeom>
          <a:noFill/>
          <a:ln/>
        </p:spPr>
        <p:txBody>
          <a:bodyPr wrap="square"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20" name="Text 18"/>
          <p:cNvSpPr/>
          <p:nvPr/>
        </p:nvSpPr>
        <p:spPr>
          <a:xfrm>
            <a:off x="4983480" y="4800600"/>
            <a:ext cx="640080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Regression</a:t>
            </a:r>
            <a:endParaRPr lang="en-US" sz="1500" dirty="0"/>
          </a:p>
        </p:txBody>
      </p:sp>
      <p:sp>
        <p:nvSpPr>
          <p:cNvPr id="21" name="Text 19"/>
          <p:cNvSpPr/>
          <p:nvPr/>
        </p:nvSpPr>
        <p:spPr>
          <a:xfrm>
            <a:off x="4983480" y="5212080"/>
            <a:ext cx="6400800" cy="640080"/>
          </a:xfrm>
          <a:prstGeom prst="rect">
            <a:avLst/>
          </a:prstGeom>
          <a:noFill/>
          <a:ln/>
        </p:spPr>
        <p:txBody>
          <a:bodyPr wrap="square" rtlCol="0" anchor="ctr"/>
          <a:lstStyle/>
          <a:p>
            <a:pPr indent="0" marL="0">
              <a:buNone/>
            </a:pPr>
            <a:r>
              <a:rPr lang="en-US" sz="1250" dirty="0">
                <a:solidFill>
                  <a:srgbClr val="5A6B77"/>
                </a:solidFill>
                <a:latin typeface="Calibri" pitchFamily="34" charset="0"/>
                <a:ea typeface="Calibri" pitchFamily="34" charset="-122"/>
                <a:cs typeface="Calibri" pitchFamily="34" charset="-120"/>
              </a:rPr>
              <a:t>Predicting a number instead of a category — for example, a price or a score.</a:t>
            </a:r>
            <a:endParaRPr lang="en-US" sz="1250" dirty="0"/>
          </a:p>
        </p:txBody>
      </p:sp>
      <p:sp>
        <p:nvSpPr>
          <p:cNvPr id="22" name="Text 20"/>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Step 2: Five Algorithms, Tested Fairly</a:t>
            </a:r>
            <a:endParaRPr lang="en-US" sz="3000" dirty="0"/>
          </a:p>
        </p:txBody>
      </p:sp>
      <p:sp>
        <p:nvSpPr>
          <p:cNvPr id="3" name="Text 1"/>
          <p:cNvSpPr/>
          <p:nvPr/>
        </p:nvSpPr>
        <p:spPr>
          <a:xfrm>
            <a:off x="640080" y="1097280"/>
            <a:ext cx="10881360" cy="548640"/>
          </a:xfrm>
          <a:prstGeom prst="rect">
            <a:avLst/>
          </a:prstGeom>
          <a:noFill/>
          <a:ln/>
        </p:spPr>
        <p:txBody>
          <a:bodyPr wrap="square" rtlCol="0" anchor="ctr"/>
          <a:lstStyle/>
          <a:p>
            <a:pPr indent="0" marL="0">
              <a:buNone/>
            </a:pPr>
            <a:r>
              <a:rPr lang="en-US" sz="1350" i="1" dirty="0">
                <a:solidFill>
                  <a:srgbClr val="5A6B77"/>
                </a:solidFill>
                <a:latin typeface="Calibri" pitchFamily="34" charset="0"/>
                <a:ea typeface="Calibri" pitchFamily="34" charset="-122"/>
                <a:cs typeface="Calibri" pitchFamily="34" charset="-120"/>
              </a:rPr>
              <a:t>Every dataset was tested on all five algorithms below, using 5-fold stratified cross-validation — a method that splits the data into five equal parts and rotates them, so every algorithm is tested fairly and consistently.</a:t>
            </a:r>
            <a:endParaRPr lang="en-US" sz="1350" dirty="0"/>
          </a:p>
        </p:txBody>
      </p:sp>
      <p:sp>
        <p:nvSpPr>
          <p:cNvPr id="4" name="Shape 2"/>
          <p:cNvSpPr/>
          <p:nvPr/>
        </p:nvSpPr>
        <p:spPr>
          <a:xfrm>
            <a:off x="640080" y="1965960"/>
            <a:ext cx="2048256" cy="4114800"/>
          </a:xfrm>
          <a:prstGeom prst="rect">
            <a:avLst>
              <a:gd name="adj" fmla="val 4464"/>
            </a:avLst>
          </a:prstGeom>
          <a:solidFill>
            <a:srgbClr val="065A82"/>
          </a:solidFill>
          <a:ln/>
        </p:spPr>
      </p:sp>
      <p:sp>
        <p:nvSpPr>
          <p:cNvPr id="5" name="Shape 3"/>
          <p:cNvSpPr/>
          <p:nvPr/>
        </p:nvSpPr>
        <p:spPr>
          <a:xfrm>
            <a:off x="1389888" y="2286000"/>
            <a:ext cx="548640" cy="548640"/>
          </a:xfrm>
          <a:prstGeom prst="ellipse">
            <a:avLst/>
          </a:prstGeom>
          <a:solidFill>
            <a:srgbClr val="FFFFFF"/>
          </a:solidFill>
          <a:ln/>
        </p:spPr>
      </p:sp>
      <p:sp>
        <p:nvSpPr>
          <p:cNvPr id="6" name="Text 4"/>
          <p:cNvSpPr/>
          <p:nvPr/>
        </p:nvSpPr>
        <p:spPr>
          <a:xfrm>
            <a:off x="1389888" y="2286000"/>
            <a:ext cx="548640" cy="548640"/>
          </a:xfrm>
          <a:prstGeom prst="rect">
            <a:avLst/>
          </a:prstGeom>
          <a:noFill/>
          <a:ln/>
        </p:spPr>
        <p:txBody>
          <a:bodyPr wrap="square" rtlCol="0" anchor="ctr"/>
          <a:lstStyle/>
          <a:p>
            <a:pPr algn="ctr" indent="0" marL="0">
              <a:buNone/>
            </a:pPr>
            <a:endParaRPr lang="en-US" sz="1320" dirty="0"/>
          </a:p>
        </p:txBody>
      </p:sp>
      <p:sp>
        <p:nvSpPr>
          <p:cNvPr id="7" name="Text 5"/>
          <p:cNvSpPr/>
          <p:nvPr/>
        </p:nvSpPr>
        <p:spPr>
          <a:xfrm>
            <a:off x="1389888" y="2286000"/>
            <a:ext cx="548640" cy="548640"/>
          </a:xfrm>
          <a:prstGeom prst="rect">
            <a:avLst/>
          </a:prstGeom>
          <a:noFill/>
          <a:ln/>
        </p:spPr>
        <p:txBody>
          <a:bodyPr wrap="square" rtlCol="0" anchor="ctr"/>
          <a:lstStyle/>
          <a:p>
            <a:pPr algn="ctr" indent="0" marL="0">
              <a:buNone/>
            </a:pPr>
            <a:r>
              <a:rPr lang="en-US" sz="1800" b="1" dirty="0">
                <a:solidFill>
                  <a:srgbClr val="065A82"/>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77240" y="3017520"/>
            <a:ext cx="1773936" cy="82296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Random Forest</a:t>
            </a:r>
            <a:endParaRPr lang="en-US" sz="1350" dirty="0"/>
          </a:p>
        </p:txBody>
      </p:sp>
      <p:sp>
        <p:nvSpPr>
          <p:cNvPr id="9" name="Text 7"/>
          <p:cNvSpPr/>
          <p:nvPr/>
        </p:nvSpPr>
        <p:spPr>
          <a:xfrm>
            <a:off x="777240" y="3840480"/>
            <a:ext cx="1773936" cy="2103120"/>
          </a:xfrm>
          <a:prstGeom prst="rect">
            <a:avLst/>
          </a:prstGeom>
          <a:noFill/>
          <a:ln/>
        </p:spPr>
        <p:txBody>
          <a:bodyPr wrap="square" rtlCol="0" anchor="t"/>
          <a:lstStyle/>
          <a:p>
            <a:pPr algn="ctr" indent="0" marL="0">
              <a:buNone/>
            </a:pPr>
            <a:r>
              <a:rPr lang="en-US" sz="1050" dirty="0">
                <a:solidFill>
                  <a:srgbClr val="F0F4F8"/>
                </a:solidFill>
                <a:latin typeface="Calibri" pitchFamily="34" charset="0"/>
                <a:ea typeface="Calibri" pitchFamily="34" charset="-122"/>
                <a:cs typeface="Calibri" pitchFamily="34" charset="-120"/>
              </a:rPr>
              <a:t>A large group of decision trees that vote together on the answer.</a:t>
            </a:r>
            <a:endParaRPr lang="en-US" sz="1050" dirty="0"/>
          </a:p>
        </p:txBody>
      </p:sp>
      <p:sp>
        <p:nvSpPr>
          <p:cNvPr id="10" name="Shape 8"/>
          <p:cNvSpPr/>
          <p:nvPr/>
        </p:nvSpPr>
        <p:spPr>
          <a:xfrm>
            <a:off x="2825496" y="1965960"/>
            <a:ext cx="2048256" cy="4114800"/>
          </a:xfrm>
          <a:prstGeom prst="rect">
            <a:avLst>
              <a:gd name="adj" fmla="val 4464"/>
            </a:avLst>
          </a:prstGeom>
          <a:solidFill>
            <a:srgbClr val="1C7293"/>
          </a:solidFill>
          <a:ln/>
        </p:spPr>
      </p:sp>
      <p:sp>
        <p:nvSpPr>
          <p:cNvPr id="11" name="Shape 9"/>
          <p:cNvSpPr/>
          <p:nvPr/>
        </p:nvSpPr>
        <p:spPr>
          <a:xfrm>
            <a:off x="3575304" y="2286000"/>
            <a:ext cx="548640" cy="548640"/>
          </a:xfrm>
          <a:prstGeom prst="ellipse">
            <a:avLst/>
          </a:prstGeom>
          <a:solidFill>
            <a:srgbClr val="FFFFFF"/>
          </a:solidFill>
          <a:ln/>
        </p:spPr>
      </p:sp>
      <p:sp>
        <p:nvSpPr>
          <p:cNvPr id="12" name="Text 10"/>
          <p:cNvSpPr/>
          <p:nvPr/>
        </p:nvSpPr>
        <p:spPr>
          <a:xfrm>
            <a:off x="3575304" y="2286000"/>
            <a:ext cx="548640" cy="548640"/>
          </a:xfrm>
          <a:prstGeom prst="rect">
            <a:avLst/>
          </a:prstGeom>
          <a:noFill/>
          <a:ln/>
        </p:spPr>
        <p:txBody>
          <a:bodyPr wrap="square" rtlCol="0" anchor="ctr"/>
          <a:lstStyle/>
          <a:p>
            <a:pPr algn="ctr" indent="0" marL="0">
              <a:buNone/>
            </a:pPr>
            <a:endParaRPr lang="en-US" sz="1320" dirty="0"/>
          </a:p>
        </p:txBody>
      </p:sp>
      <p:sp>
        <p:nvSpPr>
          <p:cNvPr id="13" name="Text 11"/>
          <p:cNvSpPr/>
          <p:nvPr/>
        </p:nvSpPr>
        <p:spPr>
          <a:xfrm>
            <a:off x="3575304" y="2286000"/>
            <a:ext cx="548640" cy="548640"/>
          </a:xfrm>
          <a:prstGeom prst="rect">
            <a:avLst/>
          </a:prstGeom>
          <a:noFill/>
          <a:ln/>
        </p:spPr>
        <p:txBody>
          <a:bodyPr wrap="square" rtlCol="0" anchor="ctr"/>
          <a:lstStyle/>
          <a:p>
            <a:pPr algn="ctr" indent="0" marL="0">
              <a:buNone/>
            </a:pPr>
            <a:r>
              <a:rPr lang="en-US" sz="1800" b="1" dirty="0">
                <a:solidFill>
                  <a:srgbClr val="065A82"/>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2962656" y="3017520"/>
            <a:ext cx="1773936" cy="82296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Gradient Boosting</a:t>
            </a:r>
            <a:endParaRPr lang="en-US" sz="1350" dirty="0"/>
          </a:p>
        </p:txBody>
      </p:sp>
      <p:sp>
        <p:nvSpPr>
          <p:cNvPr id="15" name="Text 13"/>
          <p:cNvSpPr/>
          <p:nvPr/>
        </p:nvSpPr>
        <p:spPr>
          <a:xfrm>
            <a:off x="2962656" y="3840480"/>
            <a:ext cx="1773936" cy="2103120"/>
          </a:xfrm>
          <a:prstGeom prst="rect">
            <a:avLst/>
          </a:prstGeom>
          <a:noFill/>
          <a:ln/>
        </p:spPr>
        <p:txBody>
          <a:bodyPr wrap="square" rtlCol="0" anchor="t"/>
          <a:lstStyle/>
          <a:p>
            <a:pPr algn="ctr" indent="0" marL="0">
              <a:buNone/>
            </a:pPr>
            <a:r>
              <a:rPr lang="en-US" sz="1050" dirty="0">
                <a:solidFill>
                  <a:srgbClr val="F0F4F8"/>
                </a:solidFill>
                <a:latin typeface="Calibri" pitchFamily="34" charset="0"/>
                <a:ea typeface="Calibri" pitchFamily="34" charset="-122"/>
                <a:cs typeface="Calibri" pitchFamily="34" charset="-120"/>
              </a:rPr>
              <a:t>Many small, simple models built one after another, each fixing the last one's mistakes.</a:t>
            </a:r>
            <a:endParaRPr lang="en-US" sz="1050" dirty="0"/>
          </a:p>
        </p:txBody>
      </p:sp>
      <p:sp>
        <p:nvSpPr>
          <p:cNvPr id="16" name="Shape 14"/>
          <p:cNvSpPr/>
          <p:nvPr/>
        </p:nvSpPr>
        <p:spPr>
          <a:xfrm>
            <a:off x="5010912" y="1965960"/>
            <a:ext cx="2048256" cy="4114800"/>
          </a:xfrm>
          <a:prstGeom prst="rect">
            <a:avLst>
              <a:gd name="adj" fmla="val 4464"/>
            </a:avLst>
          </a:prstGeom>
          <a:solidFill>
            <a:srgbClr val="065A82"/>
          </a:solidFill>
          <a:ln/>
        </p:spPr>
      </p:sp>
      <p:sp>
        <p:nvSpPr>
          <p:cNvPr id="17" name="Shape 15"/>
          <p:cNvSpPr/>
          <p:nvPr/>
        </p:nvSpPr>
        <p:spPr>
          <a:xfrm>
            <a:off x="5760720" y="2286000"/>
            <a:ext cx="548640" cy="548640"/>
          </a:xfrm>
          <a:prstGeom prst="ellipse">
            <a:avLst/>
          </a:prstGeom>
          <a:solidFill>
            <a:srgbClr val="FFFFFF"/>
          </a:solidFill>
          <a:ln/>
        </p:spPr>
      </p:sp>
      <p:sp>
        <p:nvSpPr>
          <p:cNvPr id="18" name="Text 16"/>
          <p:cNvSpPr/>
          <p:nvPr/>
        </p:nvSpPr>
        <p:spPr>
          <a:xfrm>
            <a:off x="5760720" y="2286000"/>
            <a:ext cx="548640" cy="548640"/>
          </a:xfrm>
          <a:prstGeom prst="rect">
            <a:avLst/>
          </a:prstGeom>
          <a:noFill/>
          <a:ln/>
        </p:spPr>
        <p:txBody>
          <a:bodyPr wrap="square" rtlCol="0" anchor="ctr"/>
          <a:lstStyle/>
          <a:p>
            <a:pPr algn="ctr" indent="0" marL="0">
              <a:buNone/>
            </a:pPr>
            <a:endParaRPr lang="en-US" sz="1320" dirty="0"/>
          </a:p>
        </p:txBody>
      </p:sp>
      <p:sp>
        <p:nvSpPr>
          <p:cNvPr id="19" name="Text 17"/>
          <p:cNvSpPr/>
          <p:nvPr/>
        </p:nvSpPr>
        <p:spPr>
          <a:xfrm>
            <a:off x="5760720" y="2286000"/>
            <a:ext cx="548640" cy="548640"/>
          </a:xfrm>
          <a:prstGeom prst="rect">
            <a:avLst/>
          </a:prstGeom>
          <a:noFill/>
          <a:ln/>
        </p:spPr>
        <p:txBody>
          <a:bodyPr wrap="square" rtlCol="0" anchor="ctr"/>
          <a:lstStyle/>
          <a:p>
            <a:pPr algn="ctr" indent="0" marL="0">
              <a:buNone/>
            </a:pPr>
            <a:r>
              <a:rPr lang="en-US" sz="1800" b="1" dirty="0">
                <a:solidFill>
                  <a:srgbClr val="065A82"/>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5148072" y="3017520"/>
            <a:ext cx="1773936" cy="82296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Support Vector Machine (SVM)</a:t>
            </a:r>
            <a:endParaRPr lang="en-US" sz="1350" dirty="0"/>
          </a:p>
        </p:txBody>
      </p:sp>
      <p:sp>
        <p:nvSpPr>
          <p:cNvPr id="21" name="Text 19"/>
          <p:cNvSpPr/>
          <p:nvPr/>
        </p:nvSpPr>
        <p:spPr>
          <a:xfrm>
            <a:off x="5148072" y="3840480"/>
            <a:ext cx="1773936" cy="2103120"/>
          </a:xfrm>
          <a:prstGeom prst="rect">
            <a:avLst/>
          </a:prstGeom>
          <a:noFill/>
          <a:ln/>
        </p:spPr>
        <p:txBody>
          <a:bodyPr wrap="square" rtlCol="0" anchor="t"/>
          <a:lstStyle/>
          <a:p>
            <a:pPr algn="ctr" indent="0" marL="0">
              <a:buNone/>
            </a:pPr>
            <a:r>
              <a:rPr lang="en-US" sz="1050" dirty="0">
                <a:solidFill>
                  <a:srgbClr val="F0F4F8"/>
                </a:solidFill>
                <a:latin typeface="Calibri" pitchFamily="34" charset="0"/>
                <a:ea typeface="Calibri" pitchFamily="34" charset="-122"/>
                <a:cs typeface="Calibri" pitchFamily="34" charset="-120"/>
              </a:rPr>
              <a:t>Finds the clearest dividing line, or boundary, between different groups of data.</a:t>
            </a:r>
            <a:endParaRPr lang="en-US" sz="1050" dirty="0"/>
          </a:p>
        </p:txBody>
      </p:sp>
      <p:sp>
        <p:nvSpPr>
          <p:cNvPr id="22" name="Shape 20"/>
          <p:cNvSpPr/>
          <p:nvPr/>
        </p:nvSpPr>
        <p:spPr>
          <a:xfrm>
            <a:off x="7196328" y="1965960"/>
            <a:ext cx="2048256" cy="4114800"/>
          </a:xfrm>
          <a:prstGeom prst="rect">
            <a:avLst>
              <a:gd name="adj" fmla="val 4464"/>
            </a:avLst>
          </a:prstGeom>
          <a:solidFill>
            <a:srgbClr val="1C7293"/>
          </a:solidFill>
          <a:ln/>
        </p:spPr>
      </p:sp>
      <p:sp>
        <p:nvSpPr>
          <p:cNvPr id="23" name="Shape 21"/>
          <p:cNvSpPr/>
          <p:nvPr/>
        </p:nvSpPr>
        <p:spPr>
          <a:xfrm>
            <a:off x="7946136" y="2286000"/>
            <a:ext cx="548640" cy="548640"/>
          </a:xfrm>
          <a:prstGeom prst="ellipse">
            <a:avLst/>
          </a:prstGeom>
          <a:solidFill>
            <a:srgbClr val="FFFFFF"/>
          </a:solidFill>
          <a:ln/>
        </p:spPr>
      </p:sp>
      <p:sp>
        <p:nvSpPr>
          <p:cNvPr id="24" name="Text 22"/>
          <p:cNvSpPr/>
          <p:nvPr/>
        </p:nvSpPr>
        <p:spPr>
          <a:xfrm>
            <a:off x="7946136" y="2286000"/>
            <a:ext cx="548640" cy="548640"/>
          </a:xfrm>
          <a:prstGeom prst="rect">
            <a:avLst/>
          </a:prstGeom>
          <a:noFill/>
          <a:ln/>
        </p:spPr>
        <p:txBody>
          <a:bodyPr wrap="square" rtlCol="0" anchor="ctr"/>
          <a:lstStyle/>
          <a:p>
            <a:pPr algn="ctr" indent="0" marL="0">
              <a:buNone/>
            </a:pPr>
            <a:endParaRPr lang="en-US" sz="1320" dirty="0"/>
          </a:p>
        </p:txBody>
      </p:sp>
      <p:sp>
        <p:nvSpPr>
          <p:cNvPr id="25" name="Text 23"/>
          <p:cNvSpPr/>
          <p:nvPr/>
        </p:nvSpPr>
        <p:spPr>
          <a:xfrm>
            <a:off x="7946136" y="2286000"/>
            <a:ext cx="548640" cy="548640"/>
          </a:xfrm>
          <a:prstGeom prst="rect">
            <a:avLst/>
          </a:prstGeom>
          <a:noFill/>
          <a:ln/>
        </p:spPr>
        <p:txBody>
          <a:bodyPr wrap="square" rtlCol="0" anchor="ctr"/>
          <a:lstStyle/>
          <a:p>
            <a:pPr algn="ctr" indent="0" marL="0">
              <a:buNone/>
            </a:pPr>
            <a:r>
              <a:rPr lang="en-US" sz="1800" b="1" dirty="0">
                <a:solidFill>
                  <a:srgbClr val="065A82"/>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7333488" y="3017520"/>
            <a:ext cx="1773936" cy="82296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k-Nearest Neighbors (KNN)</a:t>
            </a:r>
            <a:endParaRPr lang="en-US" sz="1350" dirty="0"/>
          </a:p>
        </p:txBody>
      </p:sp>
      <p:sp>
        <p:nvSpPr>
          <p:cNvPr id="27" name="Text 25"/>
          <p:cNvSpPr/>
          <p:nvPr/>
        </p:nvSpPr>
        <p:spPr>
          <a:xfrm>
            <a:off x="7333488" y="3840480"/>
            <a:ext cx="1773936" cy="2103120"/>
          </a:xfrm>
          <a:prstGeom prst="rect">
            <a:avLst/>
          </a:prstGeom>
          <a:noFill/>
          <a:ln/>
        </p:spPr>
        <p:txBody>
          <a:bodyPr wrap="square" rtlCol="0" anchor="t"/>
          <a:lstStyle/>
          <a:p>
            <a:pPr algn="ctr" indent="0" marL="0">
              <a:buNone/>
            </a:pPr>
            <a:r>
              <a:rPr lang="en-US" sz="1050" dirty="0">
                <a:solidFill>
                  <a:srgbClr val="F0F4F8"/>
                </a:solidFill>
                <a:latin typeface="Calibri" pitchFamily="34" charset="0"/>
                <a:ea typeface="Calibri" pitchFamily="34" charset="-122"/>
                <a:cs typeface="Calibri" pitchFamily="34" charset="-120"/>
              </a:rPr>
              <a:t>Looks at the closest, most similar examples in the data to make its decision.</a:t>
            </a:r>
            <a:endParaRPr lang="en-US" sz="1050" dirty="0"/>
          </a:p>
        </p:txBody>
      </p:sp>
      <p:sp>
        <p:nvSpPr>
          <p:cNvPr id="28" name="Shape 26"/>
          <p:cNvSpPr/>
          <p:nvPr/>
        </p:nvSpPr>
        <p:spPr>
          <a:xfrm>
            <a:off x="9381744" y="1965960"/>
            <a:ext cx="2048256" cy="4114800"/>
          </a:xfrm>
          <a:prstGeom prst="rect">
            <a:avLst>
              <a:gd name="adj" fmla="val 4464"/>
            </a:avLst>
          </a:prstGeom>
          <a:solidFill>
            <a:srgbClr val="065A82"/>
          </a:solidFill>
          <a:ln/>
        </p:spPr>
      </p:sp>
      <p:sp>
        <p:nvSpPr>
          <p:cNvPr id="29" name="Shape 27"/>
          <p:cNvSpPr/>
          <p:nvPr/>
        </p:nvSpPr>
        <p:spPr>
          <a:xfrm>
            <a:off x="10131552" y="2286000"/>
            <a:ext cx="548640" cy="548640"/>
          </a:xfrm>
          <a:prstGeom prst="ellipse">
            <a:avLst/>
          </a:prstGeom>
          <a:solidFill>
            <a:srgbClr val="FFFFFF"/>
          </a:solidFill>
          <a:ln/>
        </p:spPr>
      </p:sp>
      <p:sp>
        <p:nvSpPr>
          <p:cNvPr id="30" name="Text 28"/>
          <p:cNvSpPr/>
          <p:nvPr/>
        </p:nvSpPr>
        <p:spPr>
          <a:xfrm>
            <a:off x="10131552" y="2286000"/>
            <a:ext cx="548640" cy="548640"/>
          </a:xfrm>
          <a:prstGeom prst="rect">
            <a:avLst/>
          </a:prstGeom>
          <a:noFill/>
          <a:ln/>
        </p:spPr>
        <p:txBody>
          <a:bodyPr wrap="square" rtlCol="0" anchor="ctr"/>
          <a:lstStyle/>
          <a:p>
            <a:pPr algn="ctr" indent="0" marL="0">
              <a:buNone/>
            </a:pPr>
            <a:endParaRPr lang="en-US" sz="1320" dirty="0"/>
          </a:p>
        </p:txBody>
      </p:sp>
      <p:sp>
        <p:nvSpPr>
          <p:cNvPr id="31" name="Text 29"/>
          <p:cNvSpPr/>
          <p:nvPr/>
        </p:nvSpPr>
        <p:spPr>
          <a:xfrm>
            <a:off x="10131552" y="2286000"/>
            <a:ext cx="548640" cy="548640"/>
          </a:xfrm>
          <a:prstGeom prst="rect">
            <a:avLst/>
          </a:prstGeom>
          <a:noFill/>
          <a:ln/>
        </p:spPr>
        <p:txBody>
          <a:bodyPr wrap="square" rtlCol="0" anchor="ctr"/>
          <a:lstStyle/>
          <a:p>
            <a:pPr algn="ctr" indent="0" marL="0">
              <a:buNone/>
            </a:pPr>
            <a:r>
              <a:rPr lang="en-US" sz="1800" b="1" dirty="0">
                <a:solidFill>
                  <a:srgbClr val="065A82"/>
                </a:solidFill>
                <a:latin typeface="Calibri" pitchFamily="34" charset="0"/>
                <a:ea typeface="Calibri" pitchFamily="34" charset="-122"/>
                <a:cs typeface="Calibri" pitchFamily="34" charset="-120"/>
              </a:rPr>
              <a:t>5</a:t>
            </a:r>
            <a:endParaRPr lang="en-US" sz="1800" dirty="0"/>
          </a:p>
        </p:txBody>
      </p:sp>
      <p:sp>
        <p:nvSpPr>
          <p:cNvPr id="32" name="Text 30"/>
          <p:cNvSpPr/>
          <p:nvPr/>
        </p:nvSpPr>
        <p:spPr>
          <a:xfrm>
            <a:off x="9518904" y="3017520"/>
            <a:ext cx="1773936" cy="822960"/>
          </a:xfrm>
          <a:prstGeom prst="rect">
            <a:avLst/>
          </a:prstGeom>
          <a:noFill/>
          <a:ln/>
        </p:spPr>
        <p:txBody>
          <a:bodyPr wrap="square"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Neural Network</a:t>
            </a:r>
            <a:endParaRPr lang="en-US" sz="1350" dirty="0"/>
          </a:p>
        </p:txBody>
      </p:sp>
      <p:sp>
        <p:nvSpPr>
          <p:cNvPr id="33" name="Text 31"/>
          <p:cNvSpPr/>
          <p:nvPr/>
        </p:nvSpPr>
        <p:spPr>
          <a:xfrm>
            <a:off x="9518904" y="3840480"/>
            <a:ext cx="1773936" cy="2103120"/>
          </a:xfrm>
          <a:prstGeom prst="rect">
            <a:avLst/>
          </a:prstGeom>
          <a:noFill/>
          <a:ln/>
        </p:spPr>
        <p:txBody>
          <a:bodyPr wrap="square" rtlCol="0" anchor="t"/>
          <a:lstStyle/>
          <a:p>
            <a:pPr algn="ctr" indent="0" marL="0">
              <a:buNone/>
            </a:pPr>
            <a:r>
              <a:rPr lang="en-US" sz="1050" dirty="0">
                <a:solidFill>
                  <a:srgbClr val="F0F4F8"/>
                </a:solidFill>
                <a:latin typeface="Calibri" pitchFamily="34" charset="0"/>
                <a:ea typeface="Calibri" pitchFamily="34" charset="-122"/>
                <a:cs typeface="Calibri" pitchFamily="34" charset="-120"/>
              </a:rPr>
              <a:t>A layered model loosely inspired by the brain, which learns patterns through many small adjustments.</a:t>
            </a:r>
            <a:endParaRPr lang="en-US" sz="1050" dirty="0"/>
          </a:p>
        </p:txBody>
      </p:sp>
      <p:sp>
        <p:nvSpPr>
          <p:cNvPr id="34" name="Text 32"/>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Step 3: The Core Idea — The Meta-Learner</a:t>
            </a:r>
            <a:endParaRPr lang="en-US" sz="3000" dirty="0"/>
          </a:p>
        </p:txBody>
      </p:sp>
      <p:sp>
        <p:nvSpPr>
          <p:cNvPr id="3" name="Text 1"/>
          <p:cNvSpPr/>
          <p:nvPr/>
        </p:nvSpPr>
        <p:spPr>
          <a:xfrm>
            <a:off x="640080" y="1051560"/>
            <a:ext cx="7315200" cy="365760"/>
          </a:xfrm>
          <a:prstGeom prst="rect">
            <a:avLst/>
          </a:prstGeom>
          <a:noFill/>
          <a:ln/>
        </p:spPr>
        <p:txBody>
          <a:bodyPr wrap="square" rtlCol="0" anchor="ctr"/>
          <a:lstStyle/>
          <a:p>
            <a:pPr indent="0" marL="0">
              <a:buNone/>
            </a:pPr>
            <a:r>
              <a:rPr lang="en-US" sz="1400" i="1" dirty="0">
                <a:solidFill>
                  <a:srgbClr val="9FB3C8"/>
                </a:solidFill>
                <a:latin typeface="Calibri" pitchFamily="34" charset="0"/>
                <a:ea typeface="Calibri" pitchFamily="34" charset="-122"/>
                <a:cs typeface="Calibri" pitchFamily="34" charset="-120"/>
              </a:rPr>
              <a:t>This is the heart of our project.</a:t>
            </a:r>
            <a:endParaRPr lang="en-US" sz="1400" dirty="0"/>
          </a:p>
        </p:txBody>
      </p:sp>
      <p:sp>
        <p:nvSpPr>
          <p:cNvPr id="4" name="Shape 2"/>
          <p:cNvSpPr/>
          <p:nvPr/>
        </p:nvSpPr>
        <p:spPr>
          <a:xfrm>
            <a:off x="640080" y="1691640"/>
            <a:ext cx="3520440" cy="4297680"/>
          </a:xfrm>
          <a:prstGeom prst="rect">
            <a:avLst>
              <a:gd name="adj" fmla="val 3117"/>
            </a:avLst>
          </a:prstGeom>
          <a:solidFill>
            <a:srgbClr val="2B3A6B"/>
          </a:solidFill>
          <a:ln/>
        </p:spPr>
      </p:sp>
      <p:sp>
        <p:nvSpPr>
          <p:cNvPr id="5" name="Shape 3"/>
          <p:cNvSpPr/>
          <p:nvPr/>
        </p:nvSpPr>
        <p:spPr>
          <a:xfrm>
            <a:off x="914400" y="1965960"/>
            <a:ext cx="548640" cy="548640"/>
          </a:xfrm>
          <a:prstGeom prst="ellipse">
            <a:avLst/>
          </a:prstGeom>
          <a:solidFill>
            <a:srgbClr val="1C7293"/>
          </a:solidFill>
          <a:ln/>
        </p:spPr>
      </p:sp>
      <p:sp>
        <p:nvSpPr>
          <p:cNvPr id="6" name="Text 4"/>
          <p:cNvSpPr/>
          <p:nvPr/>
        </p:nvSpPr>
        <p:spPr>
          <a:xfrm>
            <a:off x="914400" y="1965960"/>
            <a:ext cx="548640" cy="548640"/>
          </a:xfrm>
          <a:prstGeom prst="rect">
            <a:avLst/>
          </a:prstGeom>
          <a:noFill/>
          <a:ln/>
        </p:spPr>
        <p:txBody>
          <a:bodyPr wrap="square"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p:nvPr/>
        </p:nvSpPr>
        <p:spPr>
          <a:xfrm>
            <a:off x="914400" y="2651760"/>
            <a:ext cx="29718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Dataset Features</a:t>
            </a:r>
            <a:endParaRPr lang="en-US" sz="1600" dirty="0"/>
          </a:p>
        </p:txBody>
      </p:sp>
      <p:sp>
        <p:nvSpPr>
          <p:cNvPr id="8" name="Text 6"/>
          <p:cNvSpPr/>
          <p:nvPr/>
        </p:nvSpPr>
        <p:spPr>
          <a:xfrm>
            <a:off x="914400" y="3246120"/>
            <a:ext cx="2971800" cy="2651760"/>
          </a:xfrm>
          <a:prstGeom prst="rect">
            <a:avLst/>
          </a:prstGeom>
          <a:noFill/>
          <a:ln/>
        </p:spPr>
        <p:txBody>
          <a:bodyPr wrap="square" rtlCol="0" anchor="t"/>
          <a:lstStyle/>
          <a:p>
            <a:pPr indent="0" marL="0">
              <a:buNone/>
            </a:pPr>
            <a:r>
              <a:rPr lang="en-US" sz="1250" dirty="0">
                <a:solidFill>
                  <a:srgbClr val="E4ECF5"/>
                </a:solidFill>
                <a:latin typeface="Calibri" pitchFamily="34" charset="0"/>
                <a:ea typeface="Calibri" pitchFamily="34" charset="-122"/>
                <a:cs typeface="Calibri" pitchFamily="34" charset="-120"/>
              </a:rPr>
              <a:t>We measure simple, describable facts about each dataset — for example, its size, its number of columns, and how balanced its groups are. These facts are called Meta-Features.</a:t>
            </a:r>
            <a:endParaRPr lang="en-US" sz="1250" dirty="0"/>
          </a:p>
        </p:txBody>
      </p:sp>
      <p:sp>
        <p:nvSpPr>
          <p:cNvPr id="9" name="Text 7"/>
          <p:cNvSpPr/>
          <p:nvPr/>
        </p:nvSpPr>
        <p:spPr>
          <a:xfrm>
            <a:off x="4114800" y="3566160"/>
            <a:ext cx="457200" cy="548640"/>
          </a:xfrm>
          <a:prstGeom prst="rect">
            <a:avLst/>
          </a:prstGeom>
          <a:noFill/>
          <a:ln/>
        </p:spPr>
        <p:txBody>
          <a:bodyPr wrap="square" rtlCol="0" anchor="ctr"/>
          <a:lstStyle/>
          <a:p>
            <a:pPr algn="ctr" indent="0" marL="0">
              <a:buNone/>
            </a:pPr>
            <a:r>
              <a:rPr lang="en-US" sz="2600" b="1" dirty="0">
                <a:solidFill>
                  <a:srgbClr val="1C7293"/>
                </a:solidFill>
                <a:latin typeface="Calibri" pitchFamily="34" charset="0"/>
                <a:ea typeface="Calibri" pitchFamily="34" charset="-122"/>
                <a:cs typeface="Calibri" pitchFamily="34" charset="-120"/>
              </a:rPr>
              <a:t>→</a:t>
            </a:r>
            <a:endParaRPr lang="en-US" sz="2600" dirty="0"/>
          </a:p>
        </p:txBody>
      </p:sp>
      <p:sp>
        <p:nvSpPr>
          <p:cNvPr id="10" name="Shape 8"/>
          <p:cNvSpPr/>
          <p:nvPr/>
        </p:nvSpPr>
        <p:spPr>
          <a:xfrm>
            <a:off x="4343400" y="1691640"/>
            <a:ext cx="3520440" cy="4297680"/>
          </a:xfrm>
          <a:prstGeom prst="rect">
            <a:avLst>
              <a:gd name="adj" fmla="val 3117"/>
            </a:avLst>
          </a:prstGeom>
          <a:solidFill>
            <a:srgbClr val="2B3A6B"/>
          </a:solidFill>
          <a:ln/>
        </p:spPr>
      </p:sp>
      <p:sp>
        <p:nvSpPr>
          <p:cNvPr id="11" name="Shape 9"/>
          <p:cNvSpPr/>
          <p:nvPr/>
        </p:nvSpPr>
        <p:spPr>
          <a:xfrm>
            <a:off x="4617720" y="1965960"/>
            <a:ext cx="548640" cy="548640"/>
          </a:xfrm>
          <a:prstGeom prst="ellipse">
            <a:avLst/>
          </a:prstGeom>
          <a:solidFill>
            <a:srgbClr val="1C7293"/>
          </a:solidFill>
          <a:ln/>
        </p:spPr>
      </p:sp>
      <p:sp>
        <p:nvSpPr>
          <p:cNvPr id="12" name="Text 10"/>
          <p:cNvSpPr/>
          <p:nvPr/>
        </p:nvSpPr>
        <p:spPr>
          <a:xfrm>
            <a:off x="4617720" y="1965960"/>
            <a:ext cx="548640" cy="548640"/>
          </a:xfrm>
          <a:prstGeom prst="rect">
            <a:avLst/>
          </a:prstGeom>
          <a:noFill/>
          <a:ln/>
        </p:spPr>
        <p:txBody>
          <a:bodyPr wrap="square"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3" name="Text 11"/>
          <p:cNvSpPr/>
          <p:nvPr/>
        </p:nvSpPr>
        <p:spPr>
          <a:xfrm>
            <a:off x="4617720" y="2651760"/>
            <a:ext cx="29718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Meta-Learner</a:t>
            </a:r>
            <a:endParaRPr lang="en-US" sz="1600" dirty="0"/>
          </a:p>
        </p:txBody>
      </p:sp>
      <p:sp>
        <p:nvSpPr>
          <p:cNvPr id="14" name="Text 12"/>
          <p:cNvSpPr/>
          <p:nvPr/>
        </p:nvSpPr>
        <p:spPr>
          <a:xfrm>
            <a:off x="4617720" y="3246120"/>
            <a:ext cx="2971800" cy="2651760"/>
          </a:xfrm>
          <a:prstGeom prst="rect">
            <a:avLst/>
          </a:prstGeom>
          <a:noFill/>
          <a:ln/>
        </p:spPr>
        <p:txBody>
          <a:bodyPr wrap="square" rtlCol="0" anchor="t"/>
          <a:lstStyle/>
          <a:p>
            <a:pPr indent="0" marL="0">
              <a:buNone/>
            </a:pPr>
            <a:r>
              <a:rPr lang="en-US" sz="1250" dirty="0">
                <a:solidFill>
                  <a:srgbClr val="E4ECF5"/>
                </a:solidFill>
                <a:latin typeface="Calibri" pitchFamily="34" charset="0"/>
                <a:ea typeface="Calibri" pitchFamily="34" charset="-122"/>
                <a:cs typeface="Calibri" pitchFamily="34" charset="-120"/>
              </a:rPr>
              <a:t>A model trained on those Meta-Features, together with the results from Step 2, learns the pattern: "datasets that look like this tend to work best with that algorithm."</a:t>
            </a:r>
            <a:endParaRPr lang="en-US" sz="1250" dirty="0"/>
          </a:p>
        </p:txBody>
      </p:sp>
      <p:sp>
        <p:nvSpPr>
          <p:cNvPr id="15" name="Text 13"/>
          <p:cNvSpPr/>
          <p:nvPr/>
        </p:nvSpPr>
        <p:spPr>
          <a:xfrm>
            <a:off x="7818120" y="3566160"/>
            <a:ext cx="457200" cy="548640"/>
          </a:xfrm>
          <a:prstGeom prst="rect">
            <a:avLst/>
          </a:prstGeom>
          <a:noFill/>
          <a:ln/>
        </p:spPr>
        <p:txBody>
          <a:bodyPr wrap="square" rtlCol="0" anchor="ctr"/>
          <a:lstStyle/>
          <a:p>
            <a:pPr algn="ctr" indent="0" marL="0">
              <a:buNone/>
            </a:pPr>
            <a:r>
              <a:rPr lang="en-US" sz="2600" b="1" dirty="0">
                <a:solidFill>
                  <a:srgbClr val="1C7293"/>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8046720" y="1691640"/>
            <a:ext cx="3520440" cy="4297680"/>
          </a:xfrm>
          <a:prstGeom prst="rect">
            <a:avLst>
              <a:gd name="adj" fmla="val 3117"/>
            </a:avLst>
          </a:prstGeom>
          <a:solidFill>
            <a:srgbClr val="2B3A6B"/>
          </a:solidFill>
          <a:ln/>
        </p:spPr>
      </p:sp>
      <p:sp>
        <p:nvSpPr>
          <p:cNvPr id="17" name="Shape 15"/>
          <p:cNvSpPr/>
          <p:nvPr/>
        </p:nvSpPr>
        <p:spPr>
          <a:xfrm>
            <a:off x="8321040" y="1965960"/>
            <a:ext cx="548640" cy="548640"/>
          </a:xfrm>
          <a:prstGeom prst="ellipse">
            <a:avLst/>
          </a:prstGeom>
          <a:solidFill>
            <a:srgbClr val="1C7293"/>
          </a:solidFill>
          <a:ln/>
        </p:spPr>
      </p:sp>
      <p:sp>
        <p:nvSpPr>
          <p:cNvPr id="18" name="Text 16"/>
          <p:cNvSpPr/>
          <p:nvPr/>
        </p:nvSpPr>
        <p:spPr>
          <a:xfrm>
            <a:off x="8321040" y="1965960"/>
            <a:ext cx="548640" cy="548640"/>
          </a:xfrm>
          <a:prstGeom prst="rect">
            <a:avLst/>
          </a:prstGeom>
          <a:noFill/>
          <a:ln/>
        </p:spPr>
        <p:txBody>
          <a:bodyPr wrap="square" rtlCol="0" anchor="ctr"/>
          <a:lstStyle/>
          <a:p>
            <a:pPr algn="ctr" indent="0" marL="0">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9" name="Text 17"/>
          <p:cNvSpPr/>
          <p:nvPr/>
        </p:nvSpPr>
        <p:spPr>
          <a:xfrm>
            <a:off x="8321040" y="2651760"/>
            <a:ext cx="2971800" cy="5486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Instant Prediction</a:t>
            </a:r>
            <a:endParaRPr lang="en-US" sz="1600" dirty="0"/>
          </a:p>
        </p:txBody>
      </p:sp>
      <p:sp>
        <p:nvSpPr>
          <p:cNvPr id="20" name="Text 18"/>
          <p:cNvSpPr/>
          <p:nvPr/>
        </p:nvSpPr>
        <p:spPr>
          <a:xfrm>
            <a:off x="8321040" y="3246120"/>
            <a:ext cx="2971800" cy="2651760"/>
          </a:xfrm>
          <a:prstGeom prst="rect">
            <a:avLst/>
          </a:prstGeom>
          <a:noFill/>
          <a:ln/>
        </p:spPr>
        <p:txBody>
          <a:bodyPr wrap="square" rtlCol="0" anchor="t"/>
          <a:lstStyle/>
          <a:p>
            <a:pPr indent="0" marL="0">
              <a:buNone/>
            </a:pPr>
            <a:r>
              <a:rPr lang="en-US" sz="1250" dirty="0">
                <a:solidFill>
                  <a:srgbClr val="E4ECF5"/>
                </a:solidFill>
                <a:latin typeface="Calibri" pitchFamily="34" charset="0"/>
                <a:ea typeface="Calibri" pitchFamily="34" charset="-122"/>
                <a:cs typeface="Calibri" pitchFamily="34" charset="-120"/>
              </a:rPr>
              <a:t>For a brand-new dataset, the Meta-Learner can now suggest the best algorithm immediately — without testing all five algorithms by hand.</a:t>
            </a:r>
            <a:endParaRPr lang="en-US" sz="1250" dirty="0"/>
          </a:p>
        </p:txBody>
      </p:sp>
      <p:sp>
        <p:nvSpPr>
          <p:cNvPr id="21" name="Text 19"/>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9FB3C8"/>
                </a:solidFill>
                <a:latin typeface="Calibri" pitchFamily="34" charset="0"/>
                <a:ea typeface="Calibri" pitchFamily="34" charset="-122"/>
                <a:cs typeface="Calibri" pitchFamily="34" charset="-120"/>
              </a:rPr>
              <a:t>Meta-Learning for Algorithm Selection  ·  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Step 4: Proving the Results Are Real</a:t>
            </a:r>
            <a:endParaRPr lang="en-US" sz="3000" dirty="0"/>
          </a:p>
        </p:txBody>
      </p:sp>
      <p:sp>
        <p:nvSpPr>
          <p:cNvPr id="3" name="Text 1"/>
          <p:cNvSpPr/>
          <p:nvPr/>
        </p:nvSpPr>
        <p:spPr>
          <a:xfrm>
            <a:off x="640080" y="1097280"/>
            <a:ext cx="10881360" cy="640080"/>
          </a:xfrm>
          <a:prstGeom prst="rect">
            <a:avLst/>
          </a:prstGeom>
          <a:noFill/>
          <a:ln/>
        </p:spPr>
        <p:txBody>
          <a:bodyPr wrap="square" rtlCol="0" anchor="ctr"/>
          <a:lstStyle/>
          <a:p>
            <a:pPr indent="0" marL="0">
              <a:buNone/>
            </a:pPr>
            <a:r>
              <a:rPr lang="en-US" sz="1350" i="1" dirty="0">
                <a:solidFill>
                  <a:srgbClr val="5A6B77"/>
                </a:solidFill>
                <a:latin typeface="Calibri" pitchFamily="34" charset="0"/>
                <a:ea typeface="Calibri" pitchFamily="34" charset="-122"/>
                <a:cs typeface="Calibri" pitchFamily="34" charset="-120"/>
              </a:rPr>
              <a:t>A good result must be more than a lucky guess. Our group used formal statistical tests to check that the differences between algorithms are real and not caused by chance.</a:t>
            </a:r>
            <a:endParaRPr lang="en-US" sz="1350" dirty="0"/>
          </a:p>
        </p:txBody>
      </p:sp>
      <p:sp>
        <p:nvSpPr>
          <p:cNvPr id="4" name="Shape 2"/>
          <p:cNvSpPr/>
          <p:nvPr/>
        </p:nvSpPr>
        <p:spPr>
          <a:xfrm>
            <a:off x="640080" y="2011680"/>
            <a:ext cx="3520440" cy="3840480"/>
          </a:xfrm>
          <a:prstGeom prst="rect">
            <a:avLst>
              <a:gd name="adj" fmla="val 3117"/>
            </a:avLst>
          </a:prstGeom>
          <a:solidFill>
            <a:srgbClr val="F4F7F9"/>
          </a:solidFill>
          <a:ln/>
        </p:spPr>
      </p:sp>
      <p:sp>
        <p:nvSpPr>
          <p:cNvPr id="5" name="Shape 3"/>
          <p:cNvSpPr/>
          <p:nvPr/>
        </p:nvSpPr>
        <p:spPr>
          <a:xfrm>
            <a:off x="640080" y="2011680"/>
            <a:ext cx="3520440" cy="109728"/>
          </a:xfrm>
          <a:prstGeom prst="rect">
            <a:avLst/>
          </a:prstGeom>
          <a:solidFill>
            <a:srgbClr val="065A82"/>
          </a:solidFill>
          <a:ln/>
        </p:spPr>
      </p:sp>
      <p:sp>
        <p:nvSpPr>
          <p:cNvPr id="6" name="Text 4"/>
          <p:cNvSpPr/>
          <p:nvPr/>
        </p:nvSpPr>
        <p:spPr>
          <a:xfrm>
            <a:off x="914400" y="2331720"/>
            <a:ext cx="2971800" cy="731520"/>
          </a:xfrm>
          <a:prstGeom prst="rect">
            <a:avLst/>
          </a:prstGeom>
          <a:noFill/>
          <a:ln/>
        </p:spPr>
        <p:txBody>
          <a:bodyPr wrap="square"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Friedman Test</a:t>
            </a:r>
            <a:endParaRPr lang="en-US" sz="1600" dirty="0"/>
          </a:p>
        </p:txBody>
      </p:sp>
      <p:sp>
        <p:nvSpPr>
          <p:cNvPr id="7" name="Text 5"/>
          <p:cNvSpPr/>
          <p:nvPr/>
        </p:nvSpPr>
        <p:spPr>
          <a:xfrm>
            <a:off x="914400" y="3063240"/>
            <a:ext cx="2971800" cy="2651760"/>
          </a:xfrm>
          <a:prstGeom prst="rect">
            <a:avLst/>
          </a:prstGeom>
          <a:noFill/>
          <a:ln/>
        </p:spPr>
        <p:txBody>
          <a:bodyPr wrap="square" rtlCol="0" anchor="t"/>
          <a:lstStyle/>
          <a:p>
            <a:pPr indent="0" marL="0">
              <a:buNone/>
            </a:pPr>
            <a:r>
              <a:rPr lang="en-US" sz="1250" dirty="0">
                <a:solidFill>
                  <a:srgbClr val="1F2933"/>
                </a:solidFill>
                <a:latin typeface="Calibri" pitchFamily="34" charset="0"/>
                <a:ea typeface="Calibri" pitchFamily="34" charset="-122"/>
                <a:cs typeface="Calibri" pitchFamily="34" charset="-120"/>
              </a:rPr>
              <a:t>Checks whether there is any real difference at all among the five algorithms, across all twenty datasets, at the same time.</a:t>
            </a:r>
            <a:endParaRPr lang="en-US" sz="1250" dirty="0"/>
          </a:p>
        </p:txBody>
      </p:sp>
      <p:sp>
        <p:nvSpPr>
          <p:cNvPr id="8" name="Shape 6"/>
          <p:cNvSpPr/>
          <p:nvPr/>
        </p:nvSpPr>
        <p:spPr>
          <a:xfrm>
            <a:off x="4343400" y="2011680"/>
            <a:ext cx="3520440" cy="3840480"/>
          </a:xfrm>
          <a:prstGeom prst="rect">
            <a:avLst>
              <a:gd name="adj" fmla="val 3117"/>
            </a:avLst>
          </a:prstGeom>
          <a:solidFill>
            <a:srgbClr val="F4F7F9"/>
          </a:solidFill>
          <a:ln/>
        </p:spPr>
      </p:sp>
      <p:sp>
        <p:nvSpPr>
          <p:cNvPr id="9" name="Shape 7"/>
          <p:cNvSpPr/>
          <p:nvPr/>
        </p:nvSpPr>
        <p:spPr>
          <a:xfrm>
            <a:off x="4343400" y="2011680"/>
            <a:ext cx="3520440" cy="109728"/>
          </a:xfrm>
          <a:prstGeom prst="rect">
            <a:avLst/>
          </a:prstGeom>
          <a:solidFill>
            <a:srgbClr val="1C7293"/>
          </a:solidFill>
          <a:ln/>
        </p:spPr>
      </p:sp>
      <p:sp>
        <p:nvSpPr>
          <p:cNvPr id="10" name="Text 8"/>
          <p:cNvSpPr/>
          <p:nvPr/>
        </p:nvSpPr>
        <p:spPr>
          <a:xfrm>
            <a:off x="4617720" y="2331720"/>
            <a:ext cx="2971800" cy="731520"/>
          </a:xfrm>
          <a:prstGeom prst="rect">
            <a:avLst/>
          </a:prstGeom>
          <a:noFill/>
          <a:ln/>
        </p:spPr>
        <p:txBody>
          <a:bodyPr wrap="square"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Nemenyi Test</a:t>
            </a:r>
            <a:endParaRPr lang="en-US" sz="1600" dirty="0"/>
          </a:p>
        </p:txBody>
      </p:sp>
      <p:sp>
        <p:nvSpPr>
          <p:cNvPr id="11" name="Text 9"/>
          <p:cNvSpPr/>
          <p:nvPr/>
        </p:nvSpPr>
        <p:spPr>
          <a:xfrm>
            <a:off x="4617720" y="3063240"/>
            <a:ext cx="2971800" cy="2651760"/>
          </a:xfrm>
          <a:prstGeom prst="rect">
            <a:avLst/>
          </a:prstGeom>
          <a:noFill/>
          <a:ln/>
        </p:spPr>
        <p:txBody>
          <a:bodyPr wrap="square" rtlCol="0" anchor="t"/>
          <a:lstStyle/>
          <a:p>
            <a:pPr indent="0" marL="0">
              <a:buNone/>
            </a:pPr>
            <a:r>
              <a:rPr lang="en-US" sz="1250" dirty="0">
                <a:solidFill>
                  <a:srgbClr val="1F2933"/>
                </a:solidFill>
                <a:latin typeface="Calibri" pitchFamily="34" charset="0"/>
                <a:ea typeface="Calibri" pitchFamily="34" charset="-122"/>
                <a:cs typeface="Calibri" pitchFamily="34" charset="-120"/>
              </a:rPr>
              <a:t>A careful follow-up test that finds exactly which specific pairs of algorithms are different from each other.</a:t>
            </a:r>
            <a:endParaRPr lang="en-US" sz="1250" dirty="0"/>
          </a:p>
        </p:txBody>
      </p:sp>
      <p:sp>
        <p:nvSpPr>
          <p:cNvPr id="12" name="Shape 10"/>
          <p:cNvSpPr/>
          <p:nvPr/>
        </p:nvSpPr>
        <p:spPr>
          <a:xfrm>
            <a:off x="8046720" y="2011680"/>
            <a:ext cx="3520440" cy="3840480"/>
          </a:xfrm>
          <a:prstGeom prst="rect">
            <a:avLst>
              <a:gd name="adj" fmla="val 3117"/>
            </a:avLst>
          </a:prstGeom>
          <a:solidFill>
            <a:srgbClr val="F4F7F9"/>
          </a:solidFill>
          <a:ln/>
        </p:spPr>
      </p:sp>
      <p:sp>
        <p:nvSpPr>
          <p:cNvPr id="13" name="Shape 11"/>
          <p:cNvSpPr/>
          <p:nvPr/>
        </p:nvSpPr>
        <p:spPr>
          <a:xfrm>
            <a:off x="8046720" y="2011680"/>
            <a:ext cx="3520440" cy="109728"/>
          </a:xfrm>
          <a:prstGeom prst="rect">
            <a:avLst/>
          </a:prstGeom>
          <a:solidFill>
            <a:srgbClr val="065A82"/>
          </a:solidFill>
          <a:ln/>
        </p:spPr>
      </p:sp>
      <p:sp>
        <p:nvSpPr>
          <p:cNvPr id="14" name="Text 12"/>
          <p:cNvSpPr/>
          <p:nvPr/>
        </p:nvSpPr>
        <p:spPr>
          <a:xfrm>
            <a:off x="8321040" y="2331720"/>
            <a:ext cx="2971800" cy="731520"/>
          </a:xfrm>
          <a:prstGeom prst="rect">
            <a:avLst/>
          </a:prstGeom>
          <a:noFill/>
          <a:ln/>
        </p:spPr>
        <p:txBody>
          <a:bodyPr wrap="square" rtlCol="0" anchor="t"/>
          <a:lstStyle/>
          <a:p>
            <a:pPr indent="0" marL="0">
              <a:buNone/>
            </a:pPr>
            <a:r>
              <a:rPr lang="en-US" sz="1600" b="1" dirty="0">
                <a:solidFill>
                  <a:srgbClr val="21295C"/>
                </a:solidFill>
                <a:latin typeface="Calibri" pitchFamily="34" charset="0"/>
                <a:ea typeface="Calibri" pitchFamily="34" charset="-122"/>
                <a:cs typeface="Calibri" pitchFamily="34" charset="-120"/>
              </a:rPr>
              <a:t>Wilcoxon Signed-Rank Test</a:t>
            </a:r>
            <a:endParaRPr lang="en-US" sz="1600" dirty="0"/>
          </a:p>
        </p:txBody>
      </p:sp>
      <p:sp>
        <p:nvSpPr>
          <p:cNvPr id="15" name="Text 13"/>
          <p:cNvSpPr/>
          <p:nvPr/>
        </p:nvSpPr>
        <p:spPr>
          <a:xfrm>
            <a:off x="8321040" y="3063240"/>
            <a:ext cx="2971800" cy="2651760"/>
          </a:xfrm>
          <a:prstGeom prst="rect">
            <a:avLst/>
          </a:prstGeom>
          <a:noFill/>
          <a:ln/>
        </p:spPr>
        <p:txBody>
          <a:bodyPr wrap="square" rtlCol="0" anchor="t"/>
          <a:lstStyle/>
          <a:p>
            <a:pPr indent="0" marL="0">
              <a:buNone/>
            </a:pPr>
            <a:r>
              <a:rPr lang="en-US" sz="1250" dirty="0">
                <a:solidFill>
                  <a:srgbClr val="1F2933"/>
                </a:solidFill>
                <a:latin typeface="Calibri" pitchFamily="34" charset="0"/>
                <a:ea typeface="Calibri" pitchFamily="34" charset="-122"/>
                <a:cs typeface="Calibri" pitchFamily="34" charset="-120"/>
              </a:rPr>
              <a:t>Compares two algorithms directly, one pair at a time, to confirm a difference in a very precise way.</a:t>
            </a:r>
            <a:endParaRPr lang="en-US" sz="1250" dirty="0"/>
          </a:p>
        </p:txBody>
      </p:sp>
      <p:sp>
        <p:nvSpPr>
          <p:cNvPr id="16" name="Text 14"/>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69848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Step 5: What We Found — Ranking the Algorithms</a:t>
            </a:r>
            <a:endParaRPr lang="en-US" sz="2800" dirty="0"/>
          </a:p>
        </p:txBody>
      </p:sp>
      <p:sp>
        <p:nvSpPr>
          <p:cNvPr id="3" name="Shape 1"/>
          <p:cNvSpPr/>
          <p:nvPr/>
        </p:nvSpPr>
        <p:spPr>
          <a:xfrm>
            <a:off x="640080" y="1280160"/>
            <a:ext cx="6583680" cy="4343400"/>
          </a:xfrm>
          <a:prstGeom prst="rect">
            <a:avLst>
              <a:gd name="adj" fmla="val 2526"/>
            </a:avLst>
          </a:prstGeom>
          <a:solidFill>
            <a:srgbClr val="F4F7F9"/>
          </a:solidFill>
          <a:ln/>
        </p:spPr>
      </p:sp>
      <p:pic>
        <p:nvPicPr>
          <p:cNvPr id="4" name="Image 0" descr="/home/claude/deck/figure1_critical_difference.png">    </p:cNvPr>
          <p:cNvPicPr>
            <a:picLocks noChangeAspect="1"/>
          </p:cNvPicPr>
          <p:nvPr/>
        </p:nvPicPr>
        <p:blipFill>
          <a:blip r:embed="rId1"/>
          <a:stretch>
            <a:fillRect/>
          </a:stretch>
        </p:blipFill>
        <p:spPr>
          <a:xfrm>
            <a:off x="822960" y="1463040"/>
            <a:ext cx="6217920" cy="2432304"/>
          </a:xfrm>
          <a:prstGeom prst="rect">
            <a:avLst/>
          </a:prstGeom>
        </p:spPr>
      </p:pic>
      <p:sp>
        <p:nvSpPr>
          <p:cNvPr id="5" name="Text 2"/>
          <p:cNvSpPr/>
          <p:nvPr/>
        </p:nvSpPr>
        <p:spPr>
          <a:xfrm>
            <a:off x="822960" y="5166360"/>
            <a:ext cx="6217920" cy="365760"/>
          </a:xfrm>
          <a:prstGeom prst="rect">
            <a:avLst/>
          </a:prstGeom>
          <a:noFill/>
          <a:ln/>
        </p:spPr>
        <p:txBody>
          <a:bodyPr wrap="square" rtlCol="0" anchor="ctr"/>
          <a:lstStyle/>
          <a:p>
            <a:pPr indent="0" marL="0">
              <a:buNone/>
            </a:pPr>
            <a:r>
              <a:rPr lang="en-US" sz="950" i="1" dirty="0">
                <a:solidFill>
                  <a:srgbClr val="5A6B77"/>
                </a:solidFill>
                <a:latin typeface="Calibri" pitchFamily="34" charset="0"/>
                <a:ea typeface="Calibri" pitchFamily="34" charset="-122"/>
                <a:cs typeface="Calibri" pitchFamily="34" charset="-120"/>
              </a:rPr>
              <a:t>Source (GitHub): meta-learning-algorithm-selection/figures/figure1_critical_difference.png</a:t>
            </a:r>
            <a:endParaRPr lang="en-US" sz="950" dirty="0"/>
          </a:p>
        </p:txBody>
      </p:sp>
      <p:sp>
        <p:nvSpPr>
          <p:cNvPr id="6" name="Text 3"/>
          <p:cNvSpPr/>
          <p:nvPr/>
        </p:nvSpPr>
        <p:spPr>
          <a:xfrm>
            <a:off x="7452360" y="1371600"/>
            <a:ext cx="411480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How to read this chart</a:t>
            </a:r>
            <a:endParaRPr lang="en-US" sz="1500" dirty="0"/>
          </a:p>
        </p:txBody>
      </p:sp>
      <p:sp>
        <p:nvSpPr>
          <p:cNvPr id="7" name="Text 4"/>
          <p:cNvSpPr/>
          <p:nvPr/>
        </p:nvSpPr>
        <p:spPr>
          <a:xfrm>
            <a:off x="7452360" y="1828800"/>
            <a:ext cx="4114800" cy="4480560"/>
          </a:xfrm>
          <a:prstGeom prst="rect">
            <a:avLst/>
          </a:prstGeom>
          <a:noFill/>
          <a:ln/>
        </p:spPr>
        <p:txBody>
          <a:bodyPr wrap="square" rtlCol="0" anchor="t"/>
          <a:lstStyle/>
          <a:p>
            <a:pPr marL="342900" indent="-342900">
              <a:spcAft>
                <a:spcPts val="1200"/>
              </a:spcAft>
              <a:buSzPct val="100000"/>
              <a:buChar char="•"/>
            </a:pPr>
            <a:r>
              <a:rPr lang="en-US" sz="1250" dirty="0">
                <a:solidFill>
                  <a:srgbClr val="1F2933"/>
                </a:solidFill>
                <a:latin typeface="Calibri" pitchFamily="34" charset="0"/>
                <a:ea typeface="Calibri" pitchFamily="34" charset="-122"/>
                <a:cs typeface="Calibri" pitchFamily="34" charset="-120"/>
              </a:rPr>
              <a:t>Each algorithm gets an average rank across all twenty datasets — a lower rank means better overall performance.</a:t>
            </a:r>
            <a:endParaRPr lang="en-US" sz="1250" dirty="0"/>
          </a:p>
          <a:p>
            <a:pPr marL="342900" indent="-342900">
              <a:spcAft>
                <a:spcPts val="1200"/>
              </a:spcAft>
              <a:buSzPct val="100000"/>
              <a:buChar char="•"/>
            </a:pPr>
            <a:r>
              <a:rPr lang="en-US" sz="1250" dirty="0">
                <a:solidFill>
                  <a:srgbClr val="1F2933"/>
                </a:solidFill>
                <a:latin typeface="Calibri" pitchFamily="34" charset="0"/>
                <a:ea typeface="Calibri" pitchFamily="34" charset="-122"/>
                <a:cs typeface="Calibri" pitchFamily="34" charset="-120"/>
              </a:rPr>
              <a:t>Algorithms joined by a line are statistically too close to call — the data cannot confidently separate them.</a:t>
            </a:r>
            <a:endParaRPr lang="en-US" sz="1250" dirty="0"/>
          </a:p>
          <a:p>
            <a:pPr marL="342900" indent="-342900">
              <a:spcAft>
                <a:spcPts val="1200"/>
              </a:spcAft>
              <a:buSzPct val="100000"/>
              <a:buChar char="•"/>
            </a:pPr>
            <a:r>
              <a:rPr lang="en-US" sz="1250" dirty="0">
                <a:solidFill>
                  <a:srgbClr val="1F2933"/>
                </a:solidFill>
                <a:latin typeface="Calibri" pitchFamily="34" charset="0"/>
                <a:ea typeface="Calibri" pitchFamily="34" charset="-122"/>
                <a:cs typeface="Calibri" pitchFamily="34" charset="-120"/>
              </a:rPr>
              <a:t>Algorithms standing apart, with no connecting line, are confidently better or worse than the rest.</a:t>
            </a:r>
            <a:endParaRPr lang="en-US" sz="1250" dirty="0"/>
          </a:p>
          <a:p>
            <a:pPr marL="342900" indent="-342900">
              <a:spcAft>
                <a:spcPts val="1200"/>
              </a:spcAft>
              <a:buSzPct val="100000"/>
              <a:buChar char="•"/>
            </a:pPr>
            <a:r>
              <a:rPr lang="en-US" sz="1250" dirty="0">
                <a:solidFill>
                  <a:srgbClr val="1F2933"/>
                </a:solidFill>
                <a:latin typeface="Calibri" pitchFamily="34" charset="0"/>
                <a:ea typeface="Calibri" pitchFamily="34" charset="-122"/>
                <a:cs typeface="Calibri" pitchFamily="34" charset="-120"/>
              </a:rPr>
              <a:t>Our result: Gradient Boosting had the best (lowest) average rank, 2.0, and was the top algorithm on 9 of the 20 datasets.</a:t>
            </a:r>
            <a:endParaRPr lang="en-US" sz="1250" dirty="0"/>
          </a:p>
        </p:txBody>
      </p:sp>
      <p:sp>
        <p:nvSpPr>
          <p:cNvPr id="8" name="Text 5"/>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698480" cy="640080"/>
          </a:xfrm>
          <a:prstGeom prst="rect">
            <a:avLst/>
          </a:prstGeom>
          <a:noFill/>
          <a:ln/>
        </p:spPr>
        <p:txBody>
          <a:bodyPr wrap="square"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Step 6: What Predicts the Best Algorithm?</a:t>
            </a:r>
            <a:endParaRPr lang="en-US" sz="2800" dirty="0"/>
          </a:p>
        </p:txBody>
      </p:sp>
      <p:sp>
        <p:nvSpPr>
          <p:cNvPr id="3" name="Text 1"/>
          <p:cNvSpPr/>
          <p:nvPr/>
        </p:nvSpPr>
        <p:spPr>
          <a:xfrm>
            <a:off x="640080" y="1097280"/>
            <a:ext cx="10698480" cy="457200"/>
          </a:xfrm>
          <a:prstGeom prst="rect">
            <a:avLst/>
          </a:prstGeom>
          <a:noFill/>
          <a:ln/>
        </p:spPr>
        <p:txBody>
          <a:bodyPr wrap="square" rtlCol="0" anchor="ctr"/>
          <a:lstStyle/>
          <a:p>
            <a:pPr indent="0" marL="0">
              <a:buNone/>
            </a:pPr>
            <a:r>
              <a:rPr lang="en-US" sz="1350" i="1" dirty="0">
                <a:solidFill>
                  <a:srgbClr val="5A6B77"/>
                </a:solidFill>
                <a:latin typeface="Calibri" pitchFamily="34" charset="0"/>
                <a:ea typeface="Calibri" pitchFamily="34" charset="-122"/>
                <a:cs typeface="Calibri" pitchFamily="34" charset="-120"/>
              </a:rPr>
              <a:t>This answers the second half of our research question: which dataset features were most useful for the Meta-Learner's predictions?</a:t>
            </a:r>
            <a:endParaRPr lang="en-US" sz="1350" dirty="0"/>
          </a:p>
        </p:txBody>
      </p:sp>
      <p:sp>
        <p:nvSpPr>
          <p:cNvPr id="4" name="Shape 2"/>
          <p:cNvSpPr/>
          <p:nvPr/>
        </p:nvSpPr>
        <p:spPr>
          <a:xfrm>
            <a:off x="640080" y="1737360"/>
            <a:ext cx="6583680" cy="4297680"/>
          </a:xfrm>
          <a:prstGeom prst="rect">
            <a:avLst>
              <a:gd name="adj" fmla="val 2553"/>
            </a:avLst>
          </a:prstGeom>
          <a:solidFill>
            <a:srgbClr val="F4F7F9"/>
          </a:solidFill>
          <a:ln/>
        </p:spPr>
      </p:sp>
      <p:pic>
        <p:nvPicPr>
          <p:cNvPr id="5" name="Image 0" descr="/home/claude/deck/figure2_complexity_performance.png">    </p:cNvPr>
          <p:cNvPicPr>
            <a:picLocks noChangeAspect="1"/>
          </p:cNvPicPr>
          <p:nvPr/>
        </p:nvPicPr>
        <p:blipFill>
          <a:blip r:embed="rId1"/>
          <a:stretch>
            <a:fillRect/>
          </a:stretch>
        </p:blipFill>
        <p:spPr>
          <a:xfrm>
            <a:off x="822960" y="1920240"/>
            <a:ext cx="6217920" cy="3657600"/>
          </a:xfrm>
          <a:prstGeom prst="rect">
            <a:avLst/>
          </a:prstGeom>
        </p:spPr>
      </p:pic>
      <p:sp>
        <p:nvSpPr>
          <p:cNvPr id="6" name="Text 3"/>
          <p:cNvSpPr/>
          <p:nvPr/>
        </p:nvSpPr>
        <p:spPr>
          <a:xfrm>
            <a:off x="822960" y="5623560"/>
            <a:ext cx="6217920" cy="320040"/>
          </a:xfrm>
          <a:prstGeom prst="rect">
            <a:avLst/>
          </a:prstGeom>
          <a:noFill/>
          <a:ln/>
        </p:spPr>
        <p:txBody>
          <a:bodyPr wrap="square" rtlCol="0" anchor="ctr"/>
          <a:lstStyle/>
          <a:p>
            <a:pPr indent="0" marL="0">
              <a:buNone/>
            </a:pPr>
            <a:r>
              <a:rPr lang="en-US" sz="950" i="1" dirty="0">
                <a:solidFill>
                  <a:srgbClr val="5A6B77"/>
                </a:solidFill>
                <a:latin typeface="Calibri" pitchFamily="34" charset="0"/>
                <a:ea typeface="Calibri" pitchFamily="34" charset="-122"/>
                <a:cs typeface="Calibri" pitchFamily="34" charset="-120"/>
              </a:rPr>
              <a:t>Source (GitHub): meta-learning-algorithm-selection/figures/figure2_complexity_performance.png</a:t>
            </a:r>
            <a:endParaRPr lang="en-US" sz="950" dirty="0"/>
          </a:p>
        </p:txBody>
      </p:sp>
      <p:sp>
        <p:nvSpPr>
          <p:cNvPr id="7" name="Text 4"/>
          <p:cNvSpPr/>
          <p:nvPr/>
        </p:nvSpPr>
        <p:spPr>
          <a:xfrm>
            <a:off x="7452360" y="1828800"/>
            <a:ext cx="411480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Top predictive meta-features</a:t>
            </a:r>
            <a:endParaRPr lang="en-US" sz="1500" dirty="0"/>
          </a:p>
        </p:txBody>
      </p:sp>
      <p:sp>
        <p:nvSpPr>
          <p:cNvPr id="8" name="Text 5"/>
          <p:cNvSpPr/>
          <p:nvPr/>
        </p:nvSpPr>
        <p:spPr>
          <a:xfrm>
            <a:off x="7452360" y="2240280"/>
            <a:ext cx="4114800" cy="3108960"/>
          </a:xfrm>
          <a:prstGeom prst="rect">
            <a:avLst/>
          </a:prstGeom>
          <a:noFill/>
          <a:ln/>
        </p:spPr>
        <p:txBody>
          <a:bodyPr wrap="square" rtlCol="0" anchor="t"/>
          <a:lstStyle/>
          <a:p>
            <a:pPr marL="342900" indent="-342900">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Mean coefficient of variation (0.126) — how spread out feature values are, relative to their average</a:t>
            </a:r>
            <a:endParaRPr lang="en-US" sz="1200" dirty="0"/>
          </a:p>
          <a:p>
            <a:pPr marL="342900" indent="-342900">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Mean skewness (0.122) — how lopsided the data's distribution is</a:t>
            </a:r>
            <a:endParaRPr lang="en-US" sz="1200" dirty="0"/>
          </a:p>
          <a:p>
            <a:pPr marL="342900" indent="-342900">
              <a:spcAft>
                <a:spcPts val="1000"/>
              </a:spcAft>
              <a:buSzPct val="100000"/>
              <a:buChar char="•"/>
            </a:pPr>
            <a:r>
              <a:rPr lang="en-US" sz="1200" dirty="0">
                <a:solidFill>
                  <a:srgbClr val="1F2933"/>
                </a:solidFill>
                <a:latin typeface="Calibri" pitchFamily="34" charset="0"/>
                <a:ea typeface="Calibri" pitchFamily="34" charset="-122"/>
                <a:cs typeface="Calibri" pitchFamily="34" charset="-120"/>
              </a:rPr>
              <a:t>Feature-to-instance ratio (0.110) — number of columns compared to number of rows</a:t>
            </a:r>
            <a:endParaRPr lang="en-US" sz="1200" dirty="0"/>
          </a:p>
        </p:txBody>
      </p:sp>
      <p:sp>
        <p:nvSpPr>
          <p:cNvPr id="9" name="Text 6"/>
          <p:cNvSpPr/>
          <p:nvPr/>
        </p:nvSpPr>
        <p:spPr>
          <a:xfrm>
            <a:off x="7452360" y="5349240"/>
            <a:ext cx="4114800" cy="548640"/>
          </a:xfrm>
          <a:prstGeom prst="rect">
            <a:avLst/>
          </a:prstGeom>
          <a:noFill/>
          <a:ln/>
        </p:spPr>
        <p:txBody>
          <a:bodyPr wrap="square" rtlCol="0" anchor="ctr"/>
          <a:lstStyle/>
          <a:p>
            <a:pPr indent="0" marL="0">
              <a:buNone/>
            </a:pPr>
            <a:r>
              <a:rPr lang="en-US" sz="950" i="1" dirty="0">
                <a:solidFill>
                  <a:srgbClr val="5A6B77"/>
                </a:solidFill>
                <a:latin typeface="Calibri" pitchFamily="34" charset="0"/>
                <a:ea typeface="Calibri" pitchFamily="34" charset="-122"/>
                <a:cs typeface="Calibri" pitchFamily="34" charset="-120"/>
              </a:rPr>
              <a:t>Source (GitHub): meta-learning-algorithm-selection/figures/table2_meta_feature_importance.csv</a:t>
            </a:r>
            <a:endParaRPr lang="en-US" sz="950" dirty="0"/>
          </a:p>
        </p:txBody>
      </p:sp>
      <p:sp>
        <p:nvSpPr>
          <p:cNvPr id="10" name="Text 7"/>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 Distinctive Layer: Modeling the Whole Experiment</a:t>
            </a:r>
            <a:endParaRPr lang="en-US" sz="2700" dirty="0"/>
          </a:p>
        </p:txBody>
      </p:sp>
      <p:sp>
        <p:nvSpPr>
          <p:cNvPr id="3" name="Text 1"/>
          <p:cNvSpPr/>
          <p:nvPr/>
        </p:nvSpPr>
        <p:spPr>
          <a:xfrm>
            <a:off x="640080" y="1143000"/>
            <a:ext cx="10515600" cy="457200"/>
          </a:xfrm>
          <a:prstGeom prst="rect">
            <a:avLst/>
          </a:prstGeom>
          <a:noFill/>
          <a:ln/>
        </p:spPr>
        <p:txBody>
          <a:bodyPr wrap="square" rtlCol="0" anchor="ctr"/>
          <a:lstStyle/>
          <a:p>
            <a:pPr indent="0" marL="0">
              <a:buNone/>
            </a:pPr>
            <a:r>
              <a:rPr lang="en-US" sz="1350" i="1" dirty="0">
                <a:solidFill>
                  <a:srgbClr val="9FB3C8"/>
                </a:solidFill>
                <a:latin typeface="Calibri" pitchFamily="34" charset="0"/>
                <a:ea typeface="Calibri" pitchFamily="34" charset="-122"/>
                <a:cs typeface="Calibri" pitchFamily="34" charset="-120"/>
              </a:rPr>
              <a:t>Beyond the machine learning pipeline, our group also formally documented the entire experiment using structured, machine-checkable files.</a:t>
            </a:r>
            <a:endParaRPr lang="en-US" sz="1350" dirty="0"/>
          </a:p>
        </p:txBody>
      </p:sp>
      <p:sp>
        <p:nvSpPr>
          <p:cNvPr id="4" name="Shape 2"/>
          <p:cNvSpPr/>
          <p:nvPr/>
        </p:nvSpPr>
        <p:spPr>
          <a:xfrm>
            <a:off x="640080" y="1920240"/>
            <a:ext cx="2606040" cy="4114800"/>
          </a:xfrm>
          <a:prstGeom prst="rect">
            <a:avLst>
              <a:gd name="adj" fmla="val 4211"/>
            </a:avLst>
          </a:prstGeom>
          <a:solidFill>
            <a:srgbClr val="2B3A6B"/>
          </a:solidFill>
          <a:ln/>
        </p:spPr>
      </p:sp>
      <p:sp>
        <p:nvSpPr>
          <p:cNvPr id="5" name="Shape 3"/>
          <p:cNvSpPr/>
          <p:nvPr/>
        </p:nvSpPr>
        <p:spPr>
          <a:xfrm>
            <a:off x="868680" y="2148840"/>
            <a:ext cx="502920" cy="502920"/>
          </a:xfrm>
          <a:prstGeom prst="ellipse">
            <a:avLst/>
          </a:prstGeom>
          <a:solidFill>
            <a:srgbClr val="1C7293"/>
          </a:solidFill>
          <a:ln/>
        </p:spPr>
      </p:sp>
      <p:sp>
        <p:nvSpPr>
          <p:cNvPr id="6" name="Text 4"/>
          <p:cNvSpPr/>
          <p:nvPr/>
        </p:nvSpPr>
        <p:spPr>
          <a:xfrm>
            <a:off x="868680" y="2148840"/>
            <a:ext cx="502920" cy="502920"/>
          </a:xfrm>
          <a:prstGeom prst="rect">
            <a:avLst/>
          </a:prstGeom>
          <a:noFill/>
          <a:ln/>
        </p:spPr>
        <p:txBody>
          <a:bodyPr wrap="square" rtlCol="0" anchor="ctr"/>
          <a:lstStyle/>
          <a:p>
            <a:pPr algn="ctr" indent="0" marL="0">
              <a:buNone/>
            </a:pPr>
            <a:endParaRPr lang="en-US" sz="1210" dirty="0"/>
          </a:p>
        </p:txBody>
      </p:sp>
      <p:sp>
        <p:nvSpPr>
          <p:cNvPr id="7" name="Text 5"/>
          <p:cNvSpPr/>
          <p:nvPr/>
        </p:nvSpPr>
        <p:spPr>
          <a:xfrm>
            <a:off x="868680" y="2148840"/>
            <a:ext cx="502920" cy="502920"/>
          </a:xfrm>
          <a:prstGeom prst="rect">
            <a:avLst/>
          </a:prstGeom>
          <a:noFill/>
          <a:ln/>
        </p:spPr>
        <p:txBody>
          <a:bodyPr wrap="square"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22960" y="2788920"/>
            <a:ext cx="2240280" cy="91440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Extensible Markup Language (XML)</a:t>
            </a:r>
            <a:endParaRPr lang="en-US" sz="1250" dirty="0"/>
          </a:p>
        </p:txBody>
      </p:sp>
      <p:sp>
        <p:nvSpPr>
          <p:cNvPr id="9" name="Text 7"/>
          <p:cNvSpPr/>
          <p:nvPr/>
        </p:nvSpPr>
        <p:spPr>
          <a:xfrm>
            <a:off x="822960" y="3657600"/>
            <a:ext cx="2240280" cy="2194560"/>
          </a:xfrm>
          <a:prstGeom prst="rect">
            <a:avLst/>
          </a:prstGeom>
          <a:noFill/>
          <a:ln/>
        </p:spPr>
        <p:txBody>
          <a:bodyPr wrap="square" rtlCol="0" anchor="t"/>
          <a:lstStyle/>
          <a:p>
            <a:pPr indent="0" marL="0">
              <a:buNone/>
            </a:pPr>
            <a:r>
              <a:rPr lang="en-US" sz="1050" dirty="0">
                <a:solidFill>
                  <a:srgbClr val="E4ECF5"/>
                </a:solidFill>
                <a:latin typeface="Calibri" pitchFamily="34" charset="0"/>
                <a:ea typeface="Calibri" pitchFamily="34" charset="-122"/>
                <a:cs typeface="Calibri" pitchFamily="34" charset="-120"/>
              </a:rPr>
              <a:t>A standard, structured way to write down data so that both people and computers can read it clearly.</a:t>
            </a:r>
            <a:endParaRPr lang="en-US" sz="1050" dirty="0"/>
          </a:p>
        </p:txBody>
      </p:sp>
      <p:sp>
        <p:nvSpPr>
          <p:cNvPr id="10" name="Shape 8"/>
          <p:cNvSpPr/>
          <p:nvPr/>
        </p:nvSpPr>
        <p:spPr>
          <a:xfrm>
            <a:off x="3429000" y="1920240"/>
            <a:ext cx="2606040" cy="4114800"/>
          </a:xfrm>
          <a:prstGeom prst="rect">
            <a:avLst>
              <a:gd name="adj" fmla="val 4211"/>
            </a:avLst>
          </a:prstGeom>
          <a:solidFill>
            <a:srgbClr val="2B3A6B"/>
          </a:solidFill>
          <a:ln/>
        </p:spPr>
      </p:sp>
      <p:sp>
        <p:nvSpPr>
          <p:cNvPr id="11" name="Shape 9"/>
          <p:cNvSpPr/>
          <p:nvPr/>
        </p:nvSpPr>
        <p:spPr>
          <a:xfrm>
            <a:off x="3657600" y="2148840"/>
            <a:ext cx="502920" cy="502920"/>
          </a:xfrm>
          <a:prstGeom prst="ellipse">
            <a:avLst/>
          </a:prstGeom>
          <a:solidFill>
            <a:srgbClr val="1C7293"/>
          </a:solidFill>
          <a:ln/>
        </p:spPr>
      </p:sp>
      <p:sp>
        <p:nvSpPr>
          <p:cNvPr id="12" name="Text 10"/>
          <p:cNvSpPr/>
          <p:nvPr/>
        </p:nvSpPr>
        <p:spPr>
          <a:xfrm>
            <a:off x="3657600" y="2148840"/>
            <a:ext cx="502920" cy="502920"/>
          </a:xfrm>
          <a:prstGeom prst="rect">
            <a:avLst/>
          </a:prstGeom>
          <a:noFill/>
          <a:ln/>
        </p:spPr>
        <p:txBody>
          <a:bodyPr wrap="square" rtlCol="0" anchor="ctr"/>
          <a:lstStyle/>
          <a:p>
            <a:pPr algn="ctr" indent="0" marL="0">
              <a:buNone/>
            </a:pPr>
            <a:endParaRPr lang="en-US" sz="1210" dirty="0"/>
          </a:p>
        </p:txBody>
      </p:sp>
      <p:sp>
        <p:nvSpPr>
          <p:cNvPr id="13" name="Text 11"/>
          <p:cNvSpPr/>
          <p:nvPr/>
        </p:nvSpPr>
        <p:spPr>
          <a:xfrm>
            <a:off x="3657600" y="2148840"/>
            <a:ext cx="502920" cy="502920"/>
          </a:xfrm>
          <a:prstGeom prst="rect">
            <a:avLst/>
          </a:prstGeom>
          <a:noFill/>
          <a:ln/>
        </p:spPr>
        <p:txBody>
          <a:bodyPr wrap="square"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3611880" y="2788920"/>
            <a:ext cx="2240280" cy="91440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XML Schema Definition (XSD)</a:t>
            </a:r>
            <a:endParaRPr lang="en-US" sz="1250" dirty="0"/>
          </a:p>
        </p:txBody>
      </p:sp>
      <p:sp>
        <p:nvSpPr>
          <p:cNvPr id="15" name="Text 13"/>
          <p:cNvSpPr/>
          <p:nvPr/>
        </p:nvSpPr>
        <p:spPr>
          <a:xfrm>
            <a:off x="3611880" y="3657600"/>
            <a:ext cx="2240280" cy="2194560"/>
          </a:xfrm>
          <a:prstGeom prst="rect">
            <a:avLst/>
          </a:prstGeom>
          <a:noFill/>
          <a:ln/>
        </p:spPr>
        <p:txBody>
          <a:bodyPr wrap="square" rtlCol="0" anchor="t"/>
          <a:lstStyle/>
          <a:p>
            <a:pPr indent="0" marL="0">
              <a:buNone/>
            </a:pPr>
            <a:r>
              <a:rPr lang="en-US" sz="1050" dirty="0">
                <a:solidFill>
                  <a:srgbClr val="E4ECF5"/>
                </a:solidFill>
                <a:latin typeface="Calibri" pitchFamily="34" charset="0"/>
                <a:ea typeface="Calibri" pitchFamily="34" charset="-122"/>
                <a:cs typeface="Calibri" pitchFamily="34" charset="-120"/>
              </a:rPr>
              <a:t>A formal rulebook that defines exactly what a valid version of our experiment's data must look like.</a:t>
            </a:r>
            <a:endParaRPr lang="en-US" sz="1050" dirty="0"/>
          </a:p>
        </p:txBody>
      </p:sp>
      <p:sp>
        <p:nvSpPr>
          <p:cNvPr id="16" name="Shape 14"/>
          <p:cNvSpPr/>
          <p:nvPr/>
        </p:nvSpPr>
        <p:spPr>
          <a:xfrm>
            <a:off x="6217920" y="1920240"/>
            <a:ext cx="2606040" cy="4114800"/>
          </a:xfrm>
          <a:prstGeom prst="rect">
            <a:avLst>
              <a:gd name="adj" fmla="val 4211"/>
            </a:avLst>
          </a:prstGeom>
          <a:solidFill>
            <a:srgbClr val="2B3A6B"/>
          </a:solidFill>
          <a:ln/>
        </p:spPr>
      </p:sp>
      <p:sp>
        <p:nvSpPr>
          <p:cNvPr id="17" name="Shape 15"/>
          <p:cNvSpPr/>
          <p:nvPr/>
        </p:nvSpPr>
        <p:spPr>
          <a:xfrm>
            <a:off x="6446520" y="2148840"/>
            <a:ext cx="502920" cy="502920"/>
          </a:xfrm>
          <a:prstGeom prst="ellipse">
            <a:avLst/>
          </a:prstGeom>
          <a:solidFill>
            <a:srgbClr val="1C7293"/>
          </a:solidFill>
          <a:ln/>
        </p:spPr>
      </p:sp>
      <p:sp>
        <p:nvSpPr>
          <p:cNvPr id="18" name="Text 16"/>
          <p:cNvSpPr/>
          <p:nvPr/>
        </p:nvSpPr>
        <p:spPr>
          <a:xfrm>
            <a:off x="6446520" y="2148840"/>
            <a:ext cx="502920" cy="502920"/>
          </a:xfrm>
          <a:prstGeom prst="rect">
            <a:avLst/>
          </a:prstGeom>
          <a:noFill/>
          <a:ln/>
        </p:spPr>
        <p:txBody>
          <a:bodyPr wrap="square" rtlCol="0" anchor="ctr"/>
          <a:lstStyle/>
          <a:p>
            <a:pPr algn="ctr" indent="0" marL="0">
              <a:buNone/>
            </a:pPr>
            <a:endParaRPr lang="en-US" sz="1210" dirty="0"/>
          </a:p>
        </p:txBody>
      </p:sp>
      <p:sp>
        <p:nvSpPr>
          <p:cNvPr id="19" name="Text 17"/>
          <p:cNvSpPr/>
          <p:nvPr/>
        </p:nvSpPr>
        <p:spPr>
          <a:xfrm>
            <a:off x="6446520" y="2148840"/>
            <a:ext cx="502920" cy="502920"/>
          </a:xfrm>
          <a:prstGeom prst="rect">
            <a:avLst/>
          </a:prstGeom>
          <a:noFill/>
          <a:ln/>
        </p:spPr>
        <p:txBody>
          <a:bodyPr wrap="square"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6400800" y="2788920"/>
            <a:ext cx="2240280" cy="91440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XML Path Language (XPath)</a:t>
            </a:r>
            <a:endParaRPr lang="en-US" sz="1250" dirty="0"/>
          </a:p>
        </p:txBody>
      </p:sp>
      <p:sp>
        <p:nvSpPr>
          <p:cNvPr id="21" name="Text 19"/>
          <p:cNvSpPr/>
          <p:nvPr/>
        </p:nvSpPr>
        <p:spPr>
          <a:xfrm>
            <a:off x="6400800" y="3657600"/>
            <a:ext cx="2240280" cy="2194560"/>
          </a:xfrm>
          <a:prstGeom prst="rect">
            <a:avLst/>
          </a:prstGeom>
          <a:noFill/>
          <a:ln/>
        </p:spPr>
        <p:txBody>
          <a:bodyPr wrap="square" rtlCol="0" anchor="t"/>
          <a:lstStyle/>
          <a:p>
            <a:pPr indent="0" marL="0">
              <a:buNone/>
            </a:pPr>
            <a:r>
              <a:rPr lang="en-US" sz="1050" dirty="0">
                <a:solidFill>
                  <a:srgbClr val="E4ECF5"/>
                </a:solidFill>
                <a:latin typeface="Calibri" pitchFamily="34" charset="0"/>
                <a:ea typeface="Calibri" pitchFamily="34" charset="-122"/>
                <a:cs typeface="Calibri" pitchFamily="34" charset="-120"/>
              </a:rPr>
              <a:t>A tool used to point to, and pull out, one exact piece of information from inside a large XML file.</a:t>
            </a:r>
            <a:endParaRPr lang="en-US" sz="1050" dirty="0"/>
          </a:p>
        </p:txBody>
      </p:sp>
      <p:sp>
        <p:nvSpPr>
          <p:cNvPr id="22" name="Shape 20"/>
          <p:cNvSpPr/>
          <p:nvPr/>
        </p:nvSpPr>
        <p:spPr>
          <a:xfrm>
            <a:off x="9006840" y="1920240"/>
            <a:ext cx="2606040" cy="4114800"/>
          </a:xfrm>
          <a:prstGeom prst="rect">
            <a:avLst>
              <a:gd name="adj" fmla="val 4211"/>
            </a:avLst>
          </a:prstGeom>
          <a:solidFill>
            <a:srgbClr val="2B3A6B"/>
          </a:solidFill>
          <a:ln/>
        </p:spPr>
      </p:sp>
      <p:sp>
        <p:nvSpPr>
          <p:cNvPr id="23" name="Shape 21"/>
          <p:cNvSpPr/>
          <p:nvPr/>
        </p:nvSpPr>
        <p:spPr>
          <a:xfrm>
            <a:off x="9235440" y="2148840"/>
            <a:ext cx="502920" cy="502920"/>
          </a:xfrm>
          <a:prstGeom prst="ellipse">
            <a:avLst/>
          </a:prstGeom>
          <a:solidFill>
            <a:srgbClr val="1C7293"/>
          </a:solidFill>
          <a:ln/>
        </p:spPr>
      </p:sp>
      <p:sp>
        <p:nvSpPr>
          <p:cNvPr id="24" name="Text 22"/>
          <p:cNvSpPr/>
          <p:nvPr/>
        </p:nvSpPr>
        <p:spPr>
          <a:xfrm>
            <a:off x="9235440" y="2148840"/>
            <a:ext cx="502920" cy="502920"/>
          </a:xfrm>
          <a:prstGeom prst="rect">
            <a:avLst/>
          </a:prstGeom>
          <a:noFill/>
          <a:ln/>
        </p:spPr>
        <p:txBody>
          <a:bodyPr wrap="square" rtlCol="0" anchor="ctr"/>
          <a:lstStyle/>
          <a:p>
            <a:pPr algn="ctr" indent="0" marL="0">
              <a:buNone/>
            </a:pPr>
            <a:endParaRPr lang="en-US" sz="1210" dirty="0"/>
          </a:p>
        </p:txBody>
      </p:sp>
      <p:sp>
        <p:nvSpPr>
          <p:cNvPr id="25" name="Text 23"/>
          <p:cNvSpPr/>
          <p:nvPr/>
        </p:nvSpPr>
        <p:spPr>
          <a:xfrm>
            <a:off x="9235440" y="2148840"/>
            <a:ext cx="502920" cy="502920"/>
          </a:xfrm>
          <a:prstGeom prst="rect">
            <a:avLst/>
          </a:prstGeom>
          <a:noFill/>
          <a:ln/>
        </p:spPr>
        <p:txBody>
          <a:bodyPr wrap="square" rtlCol="0" anchor="ctr"/>
          <a:lstStyle/>
          <a:p>
            <a:pPr algn="ctr" indent="0" marL="0">
              <a:buNone/>
            </a:pPr>
            <a:r>
              <a:rPr lang="en-US" sz="1600" b="1" dirty="0">
                <a:solidFill>
                  <a:srgbClr val="21295C"/>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9189720" y="2788920"/>
            <a:ext cx="2240280" cy="914400"/>
          </a:xfrm>
          <a:prstGeom prst="rect">
            <a:avLst/>
          </a:prstGeom>
          <a:noFill/>
          <a:ln/>
        </p:spPr>
        <p:txBody>
          <a:bodyPr wrap="square"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XML Query Language (XQuery)</a:t>
            </a:r>
            <a:endParaRPr lang="en-US" sz="1250" dirty="0"/>
          </a:p>
        </p:txBody>
      </p:sp>
      <p:sp>
        <p:nvSpPr>
          <p:cNvPr id="27" name="Text 25"/>
          <p:cNvSpPr/>
          <p:nvPr/>
        </p:nvSpPr>
        <p:spPr>
          <a:xfrm>
            <a:off x="9189720" y="3657600"/>
            <a:ext cx="2240280" cy="2194560"/>
          </a:xfrm>
          <a:prstGeom prst="rect">
            <a:avLst/>
          </a:prstGeom>
          <a:noFill/>
          <a:ln/>
        </p:spPr>
        <p:txBody>
          <a:bodyPr wrap="square" rtlCol="0" anchor="t"/>
          <a:lstStyle/>
          <a:p>
            <a:pPr indent="0" marL="0">
              <a:buNone/>
            </a:pPr>
            <a:r>
              <a:rPr lang="en-US" sz="1050" dirty="0">
                <a:solidFill>
                  <a:srgbClr val="E4ECF5"/>
                </a:solidFill>
                <a:latin typeface="Calibri" pitchFamily="34" charset="0"/>
                <a:ea typeface="Calibri" pitchFamily="34" charset="-122"/>
                <a:cs typeface="Calibri" pitchFamily="34" charset="-120"/>
              </a:rPr>
              <a:t>A tool used to search through and ask more complex questions of our XML data, and check that it is correct.</a:t>
            </a:r>
            <a:endParaRPr lang="en-US" sz="1050" dirty="0"/>
          </a:p>
        </p:txBody>
      </p:sp>
      <p:sp>
        <p:nvSpPr>
          <p:cNvPr id="28" name="Text 26"/>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9FB3C8"/>
                </a:solidFill>
                <a:latin typeface="Calibri" pitchFamily="34" charset="0"/>
                <a:ea typeface="Calibri" pitchFamily="34" charset="-122"/>
                <a:cs typeface="Calibri" pitchFamily="34" charset="-120"/>
              </a:rPr>
              <a:t>Meta-Learning for Algorithm Selection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640080" y="1280160"/>
            <a:ext cx="10881360" cy="1554480"/>
          </a:xfrm>
          <a:prstGeom prst="rect">
            <a:avLst>
              <a:gd name="adj" fmla="val 7059"/>
            </a:avLst>
          </a:prstGeom>
          <a:solidFill>
            <a:srgbClr val="065A82"/>
          </a:solidFill>
          <a:ln/>
        </p:spPr>
      </p:sp>
      <p:sp>
        <p:nvSpPr>
          <p:cNvPr id="4" name="Text 2"/>
          <p:cNvSpPr/>
          <p:nvPr/>
        </p:nvSpPr>
        <p:spPr>
          <a:xfrm>
            <a:off x="1005840" y="1463040"/>
            <a:ext cx="10149840" cy="1188720"/>
          </a:xfrm>
          <a:prstGeom prst="rect">
            <a:avLst/>
          </a:prstGeom>
          <a:noFill/>
          <a:ln/>
        </p:spPr>
        <p:txBody>
          <a:bodyPr wrap="square"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Gradient Boosting was our strongest overall algorithm, and dataset meta-features — especially how spread out and lopsided the data is — reliably predicted which algorithm would win, backed by formal statistical proof, not guesswork.</a:t>
            </a:r>
            <a:endParaRPr lang="en-US" sz="1800" dirty="0"/>
          </a:p>
        </p:txBody>
      </p:sp>
      <p:sp>
        <p:nvSpPr>
          <p:cNvPr id="5" name="Text 3"/>
          <p:cNvSpPr/>
          <p:nvPr/>
        </p:nvSpPr>
        <p:spPr>
          <a:xfrm>
            <a:off x="640080" y="3063240"/>
            <a:ext cx="649224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What we did</a:t>
            </a:r>
            <a:endParaRPr lang="en-US" sz="1500" dirty="0"/>
          </a:p>
        </p:txBody>
      </p:sp>
      <p:sp>
        <p:nvSpPr>
          <p:cNvPr id="6" name="Text 4"/>
          <p:cNvSpPr/>
          <p:nvPr/>
        </p:nvSpPr>
        <p:spPr>
          <a:xfrm>
            <a:off x="640080" y="3474720"/>
            <a:ext cx="6492240" cy="2743200"/>
          </a:xfrm>
          <a:prstGeom prst="rect">
            <a:avLst/>
          </a:prstGeom>
          <a:noFill/>
          <a:ln/>
        </p:spPr>
        <p:txBody>
          <a:bodyPr wrap="square" rtlCol="0" anchor="t"/>
          <a:lstStyle/>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Curated twenty varied datasets from a trusted source</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Tested five algorithms fairly, using the same method each time</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Trained a Meta-Learner to predict the best algorithm in advance</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Proved our findings with formal statistical tests</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Documented the whole study in structured, checkable files</a:t>
            </a:r>
            <a:endParaRPr lang="en-US" sz="1250" dirty="0"/>
          </a:p>
        </p:txBody>
      </p:sp>
      <p:sp>
        <p:nvSpPr>
          <p:cNvPr id="7" name="Text 5"/>
          <p:cNvSpPr/>
          <p:nvPr/>
        </p:nvSpPr>
        <p:spPr>
          <a:xfrm>
            <a:off x="7406640" y="3063240"/>
            <a:ext cx="4389120" cy="365760"/>
          </a:xfrm>
          <a:prstGeom prst="rect">
            <a:avLst/>
          </a:prstGeom>
          <a:noFill/>
          <a:ln/>
        </p:spPr>
        <p:txBody>
          <a:bodyPr wrap="square"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Limitations &amp; next steps</a:t>
            </a:r>
            <a:endParaRPr lang="en-US" sz="1500" dirty="0"/>
          </a:p>
        </p:txBody>
      </p:sp>
      <p:sp>
        <p:nvSpPr>
          <p:cNvPr id="8" name="Text 6"/>
          <p:cNvSpPr/>
          <p:nvPr/>
        </p:nvSpPr>
        <p:spPr>
          <a:xfrm>
            <a:off x="7406640" y="3474720"/>
            <a:ext cx="4389120" cy="2743200"/>
          </a:xfrm>
          <a:prstGeom prst="rect">
            <a:avLst/>
          </a:prstGeom>
          <a:noFill/>
          <a:ln/>
        </p:spPr>
        <p:txBody>
          <a:bodyPr wrap="square" rtlCol="0" anchor="t"/>
          <a:lstStyle/>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Our results are limited to the twenty datasets we studied</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More datasets would make the Meta-Learner's predictions even stronger</a:t>
            </a:r>
            <a:endParaRPr lang="en-US" sz="1250" dirty="0"/>
          </a:p>
          <a:p>
            <a:pPr marL="342900" indent="-342900">
              <a:spcAft>
                <a:spcPts val="800"/>
              </a:spcAft>
              <a:buSzPct val="100000"/>
              <a:buChar char="•"/>
            </a:pPr>
            <a:r>
              <a:rPr lang="en-US" sz="1250" dirty="0">
                <a:solidFill>
                  <a:srgbClr val="1F2933"/>
                </a:solidFill>
                <a:latin typeface="Calibri" pitchFamily="34" charset="0"/>
                <a:ea typeface="Calibri" pitchFamily="34" charset="-122"/>
                <a:cs typeface="Calibri" pitchFamily="34" charset="-120"/>
              </a:rPr>
              <a:t>Future work could test more algorithms and more meta-features</a:t>
            </a:r>
            <a:endParaRPr lang="en-US" sz="1250" dirty="0"/>
          </a:p>
        </p:txBody>
      </p:sp>
      <p:sp>
        <p:nvSpPr>
          <p:cNvPr id="9" name="Text 7"/>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5A6B77"/>
                </a:solidFill>
                <a:latin typeface="Calibri" pitchFamily="34" charset="0"/>
                <a:ea typeface="Calibri" pitchFamily="34" charset="-122"/>
                <a:cs typeface="Calibri" pitchFamily="34" charset="-120"/>
              </a:rPr>
              <a:t>Meta-Learning for Algorithm Selection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065A82">
              <a:alpha val="45000"/>
            </a:srgbClr>
          </a:solidFill>
          <a:ln/>
        </p:spPr>
      </p:sp>
      <p:sp>
        <p:nvSpPr>
          <p:cNvPr id="3" name="Text 1"/>
          <p:cNvSpPr/>
          <p:nvPr/>
        </p:nvSpPr>
        <p:spPr>
          <a:xfrm>
            <a:off x="640080" y="502920"/>
            <a:ext cx="7315200" cy="8229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4" name="Text 2"/>
          <p:cNvSpPr/>
          <p:nvPr/>
        </p:nvSpPr>
        <p:spPr>
          <a:xfrm>
            <a:off x="640080" y="1280160"/>
            <a:ext cx="7315200" cy="365760"/>
          </a:xfrm>
          <a:prstGeom prst="rect">
            <a:avLst/>
          </a:prstGeom>
          <a:noFill/>
          <a:ln/>
        </p:spPr>
        <p:txBody>
          <a:bodyPr wrap="square" rtlCol="0" anchor="ctr"/>
          <a:lstStyle/>
          <a:p>
            <a:pPr indent="0" marL="0">
              <a:buNone/>
            </a:pPr>
            <a:r>
              <a:rPr lang="en-US" sz="1400" i="1" dirty="0">
                <a:solidFill>
                  <a:srgbClr val="9FB3C8"/>
                </a:solidFill>
                <a:latin typeface="Calibri" pitchFamily="34" charset="0"/>
                <a:ea typeface="Calibri" pitchFamily="34" charset="-122"/>
                <a:cs typeface="Calibri" pitchFamily="34" charset="-120"/>
              </a:rPr>
              <a:t>Meet the team behind the research</a:t>
            </a:r>
            <a:endParaRPr lang="en-US" sz="1400" dirty="0"/>
          </a:p>
        </p:txBody>
      </p:sp>
      <p:sp>
        <p:nvSpPr>
          <p:cNvPr id="5" name="Shape 3"/>
          <p:cNvSpPr/>
          <p:nvPr/>
        </p:nvSpPr>
        <p:spPr>
          <a:xfrm>
            <a:off x="640080" y="1965960"/>
            <a:ext cx="3520440" cy="1417320"/>
          </a:xfrm>
          <a:prstGeom prst="rect">
            <a:avLst>
              <a:gd name="adj" fmla="val 6452"/>
            </a:avLst>
          </a:prstGeom>
          <a:solidFill>
            <a:srgbClr val="2B3A6B"/>
          </a:solidFill>
          <a:ln/>
        </p:spPr>
      </p:sp>
      <p:sp>
        <p:nvSpPr>
          <p:cNvPr id="6" name="Text 4"/>
          <p:cNvSpPr/>
          <p:nvPr/>
        </p:nvSpPr>
        <p:spPr>
          <a:xfrm>
            <a:off x="822960" y="210312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Akindipe Ireoluwawolemi Jeremiah</a:t>
            </a:r>
            <a:endParaRPr lang="en-US" sz="1300" dirty="0"/>
          </a:p>
        </p:txBody>
      </p:sp>
      <p:sp>
        <p:nvSpPr>
          <p:cNvPr id="7" name="Text 5"/>
          <p:cNvSpPr/>
          <p:nvPr/>
        </p:nvSpPr>
        <p:spPr>
          <a:xfrm>
            <a:off x="822960" y="258775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Machine Learning Engineer — full pipeline &amp; Meta-Learner</a:t>
            </a:r>
            <a:endParaRPr lang="en-US" sz="1100" dirty="0"/>
          </a:p>
        </p:txBody>
      </p:sp>
      <p:sp>
        <p:nvSpPr>
          <p:cNvPr id="8" name="Shape 6"/>
          <p:cNvSpPr/>
          <p:nvPr/>
        </p:nvSpPr>
        <p:spPr>
          <a:xfrm>
            <a:off x="4297680" y="1965960"/>
            <a:ext cx="3520440" cy="1417320"/>
          </a:xfrm>
          <a:prstGeom prst="rect">
            <a:avLst>
              <a:gd name="adj" fmla="val 6452"/>
            </a:avLst>
          </a:prstGeom>
          <a:solidFill>
            <a:srgbClr val="2B3A6B"/>
          </a:solidFill>
          <a:ln/>
        </p:spPr>
      </p:sp>
      <p:sp>
        <p:nvSpPr>
          <p:cNvPr id="9" name="Text 7"/>
          <p:cNvSpPr/>
          <p:nvPr/>
        </p:nvSpPr>
        <p:spPr>
          <a:xfrm>
            <a:off x="4480560" y="210312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Ajibola</a:t>
            </a:r>
            <a:endParaRPr lang="en-US" sz="1300" dirty="0"/>
          </a:p>
        </p:txBody>
      </p:sp>
      <p:sp>
        <p:nvSpPr>
          <p:cNvPr id="10" name="Text 8"/>
          <p:cNvSpPr/>
          <p:nvPr/>
        </p:nvSpPr>
        <p:spPr>
          <a:xfrm>
            <a:off x="4480560" y="258775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Data Curator &amp; Metadata Specialist</a:t>
            </a:r>
            <a:endParaRPr lang="en-US" sz="1100" dirty="0"/>
          </a:p>
        </p:txBody>
      </p:sp>
      <p:sp>
        <p:nvSpPr>
          <p:cNvPr id="11" name="Shape 9"/>
          <p:cNvSpPr/>
          <p:nvPr/>
        </p:nvSpPr>
        <p:spPr>
          <a:xfrm>
            <a:off x="7955280" y="1965960"/>
            <a:ext cx="3520440" cy="1417320"/>
          </a:xfrm>
          <a:prstGeom prst="rect">
            <a:avLst>
              <a:gd name="adj" fmla="val 6452"/>
            </a:avLst>
          </a:prstGeom>
          <a:solidFill>
            <a:srgbClr val="2B3A6B"/>
          </a:solidFill>
          <a:ln/>
        </p:spPr>
      </p:sp>
      <p:sp>
        <p:nvSpPr>
          <p:cNvPr id="12" name="Text 10"/>
          <p:cNvSpPr/>
          <p:nvPr/>
        </p:nvSpPr>
        <p:spPr>
          <a:xfrm>
            <a:off x="8138160" y="210312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Akinmoju</a:t>
            </a:r>
            <a:endParaRPr lang="en-US" sz="1300" dirty="0"/>
          </a:p>
        </p:txBody>
      </p:sp>
      <p:sp>
        <p:nvSpPr>
          <p:cNvPr id="13" name="Text 11"/>
          <p:cNvSpPr/>
          <p:nvPr/>
        </p:nvSpPr>
        <p:spPr>
          <a:xfrm>
            <a:off x="8138160" y="258775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Extensible Markup Language / XML Schema Definition (XSD) Architect</a:t>
            </a:r>
            <a:endParaRPr lang="en-US" sz="1100" dirty="0"/>
          </a:p>
        </p:txBody>
      </p:sp>
      <p:sp>
        <p:nvSpPr>
          <p:cNvPr id="14" name="Shape 12"/>
          <p:cNvSpPr/>
          <p:nvPr/>
        </p:nvSpPr>
        <p:spPr>
          <a:xfrm>
            <a:off x="640080" y="3520440"/>
            <a:ext cx="3520440" cy="1417320"/>
          </a:xfrm>
          <a:prstGeom prst="rect">
            <a:avLst>
              <a:gd name="adj" fmla="val 6452"/>
            </a:avLst>
          </a:prstGeom>
          <a:solidFill>
            <a:srgbClr val="2B3A6B"/>
          </a:solidFill>
          <a:ln/>
        </p:spPr>
      </p:sp>
      <p:sp>
        <p:nvSpPr>
          <p:cNvPr id="15" name="Text 13"/>
          <p:cNvSpPr/>
          <p:nvPr/>
        </p:nvSpPr>
        <p:spPr>
          <a:xfrm>
            <a:off x="822960" y="365760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Akinwola</a:t>
            </a:r>
            <a:endParaRPr lang="en-US" sz="1300" dirty="0"/>
          </a:p>
        </p:txBody>
      </p:sp>
      <p:sp>
        <p:nvSpPr>
          <p:cNvPr id="16" name="Text 14"/>
          <p:cNvSpPr/>
          <p:nvPr/>
        </p:nvSpPr>
        <p:spPr>
          <a:xfrm>
            <a:off x="822960" y="414223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XML Path Language (XPath) &amp; XML Query Language (XQuery) Developer</a:t>
            </a:r>
            <a:endParaRPr lang="en-US" sz="1100" dirty="0"/>
          </a:p>
        </p:txBody>
      </p:sp>
      <p:sp>
        <p:nvSpPr>
          <p:cNvPr id="17" name="Shape 15"/>
          <p:cNvSpPr/>
          <p:nvPr/>
        </p:nvSpPr>
        <p:spPr>
          <a:xfrm>
            <a:off x="4297680" y="3520440"/>
            <a:ext cx="3520440" cy="1417320"/>
          </a:xfrm>
          <a:prstGeom prst="rect">
            <a:avLst>
              <a:gd name="adj" fmla="val 6452"/>
            </a:avLst>
          </a:prstGeom>
          <a:solidFill>
            <a:srgbClr val="2B3A6B"/>
          </a:solidFill>
          <a:ln/>
        </p:spPr>
      </p:sp>
      <p:sp>
        <p:nvSpPr>
          <p:cNvPr id="18" name="Text 16"/>
          <p:cNvSpPr/>
          <p:nvPr/>
        </p:nvSpPr>
        <p:spPr>
          <a:xfrm>
            <a:off x="4480560" y="365760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Akinyele</a:t>
            </a:r>
            <a:endParaRPr lang="en-US" sz="1300" dirty="0"/>
          </a:p>
        </p:txBody>
      </p:sp>
      <p:sp>
        <p:nvSpPr>
          <p:cNvPr id="19" name="Text 17"/>
          <p:cNvSpPr/>
          <p:nvPr/>
        </p:nvSpPr>
        <p:spPr>
          <a:xfrm>
            <a:off x="4480560" y="414223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Visualisation &amp; Statistical Reporting</a:t>
            </a:r>
            <a:endParaRPr lang="en-US" sz="1100" dirty="0"/>
          </a:p>
        </p:txBody>
      </p:sp>
      <p:sp>
        <p:nvSpPr>
          <p:cNvPr id="20" name="Shape 18"/>
          <p:cNvSpPr/>
          <p:nvPr/>
        </p:nvSpPr>
        <p:spPr>
          <a:xfrm>
            <a:off x="7955280" y="3520440"/>
            <a:ext cx="3520440" cy="1417320"/>
          </a:xfrm>
          <a:prstGeom prst="rect">
            <a:avLst>
              <a:gd name="adj" fmla="val 6452"/>
            </a:avLst>
          </a:prstGeom>
          <a:solidFill>
            <a:srgbClr val="2B3A6B"/>
          </a:solidFill>
          <a:ln/>
        </p:spPr>
      </p:sp>
      <p:sp>
        <p:nvSpPr>
          <p:cNvPr id="21" name="Text 19"/>
          <p:cNvSpPr/>
          <p:nvPr/>
        </p:nvSpPr>
        <p:spPr>
          <a:xfrm>
            <a:off x="8138160" y="365760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Akinyemi</a:t>
            </a:r>
            <a:endParaRPr lang="en-US" sz="1300" dirty="0"/>
          </a:p>
        </p:txBody>
      </p:sp>
      <p:sp>
        <p:nvSpPr>
          <p:cNvPr id="22" name="Text 20"/>
          <p:cNvSpPr/>
          <p:nvPr/>
        </p:nvSpPr>
        <p:spPr>
          <a:xfrm>
            <a:off x="8138160" y="414223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Manuscript Lead</a:t>
            </a:r>
            <a:endParaRPr lang="en-US" sz="1100" dirty="0"/>
          </a:p>
        </p:txBody>
      </p:sp>
      <p:sp>
        <p:nvSpPr>
          <p:cNvPr id="23" name="Shape 21"/>
          <p:cNvSpPr/>
          <p:nvPr/>
        </p:nvSpPr>
        <p:spPr>
          <a:xfrm>
            <a:off x="640080" y="5074920"/>
            <a:ext cx="3520440" cy="1417320"/>
          </a:xfrm>
          <a:prstGeom prst="rect">
            <a:avLst>
              <a:gd name="adj" fmla="val 6452"/>
            </a:avLst>
          </a:prstGeom>
          <a:solidFill>
            <a:srgbClr val="2B3A6B"/>
          </a:solidFill>
          <a:ln/>
        </p:spPr>
      </p:sp>
      <p:sp>
        <p:nvSpPr>
          <p:cNvPr id="24" name="Text 22"/>
          <p:cNvSpPr/>
          <p:nvPr/>
        </p:nvSpPr>
        <p:spPr>
          <a:xfrm>
            <a:off x="822960" y="5212080"/>
            <a:ext cx="3154680" cy="502920"/>
          </a:xfrm>
          <a:prstGeom prst="rect">
            <a:avLst/>
          </a:prstGeom>
          <a:noFill/>
          <a:ln/>
        </p:spPr>
        <p:txBody>
          <a:bodyPr wrap="square"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Asamu Caleb Ayomide</a:t>
            </a:r>
            <a:endParaRPr lang="en-US" sz="1300" dirty="0"/>
          </a:p>
        </p:txBody>
      </p:sp>
      <p:sp>
        <p:nvSpPr>
          <p:cNvPr id="25" name="Text 23"/>
          <p:cNvSpPr/>
          <p:nvPr/>
        </p:nvSpPr>
        <p:spPr>
          <a:xfrm>
            <a:off x="822960" y="5696712"/>
            <a:ext cx="3154680" cy="731520"/>
          </a:xfrm>
          <a:prstGeom prst="rect">
            <a:avLst/>
          </a:prstGeom>
          <a:noFill/>
          <a:ln/>
        </p:spPr>
        <p:txBody>
          <a:bodyPr wrap="square" rtlCol="0" anchor="t"/>
          <a:lstStyle/>
          <a:p>
            <a:pPr indent="0" marL="0">
              <a:buNone/>
            </a:pPr>
            <a:r>
              <a:rPr lang="en-US" sz="1100" dirty="0">
                <a:solidFill>
                  <a:srgbClr val="CADCFC"/>
                </a:solidFill>
                <a:latin typeface="Calibri" pitchFamily="34" charset="0"/>
                <a:ea typeface="Calibri" pitchFamily="34" charset="-122"/>
                <a:cs typeface="Calibri" pitchFamily="34" charset="-120"/>
              </a:rPr>
              <a:t>Presentation &amp; Peer-Review Coordinator</a:t>
            </a:r>
            <a:endParaRPr lang="en-US" sz="1100" dirty="0"/>
          </a:p>
        </p:txBody>
      </p:sp>
      <p:sp>
        <p:nvSpPr>
          <p:cNvPr id="26" name="Text 24"/>
          <p:cNvSpPr/>
          <p:nvPr/>
        </p:nvSpPr>
        <p:spPr>
          <a:xfrm>
            <a:off x="457200" y="6446520"/>
            <a:ext cx="5486400" cy="274320"/>
          </a:xfrm>
          <a:prstGeom prst="rect">
            <a:avLst/>
          </a:prstGeom>
          <a:noFill/>
          <a:ln/>
        </p:spPr>
        <p:txBody>
          <a:bodyPr wrap="square" rtlCol="0" anchor="ctr"/>
          <a:lstStyle/>
          <a:p>
            <a:pPr indent="0" marL="0">
              <a:buNone/>
            </a:pPr>
            <a:r>
              <a:rPr lang="en-US" sz="1000" i="1" dirty="0">
                <a:solidFill>
                  <a:srgbClr val="9FB3C8"/>
                </a:solidFill>
                <a:latin typeface="Calibri" pitchFamily="34" charset="0"/>
                <a:ea typeface="Calibri" pitchFamily="34" charset="-122"/>
                <a:cs typeface="Calibri" pitchFamily="34" charset="-120"/>
              </a:rPr>
              <a:t>Meta-Learning for Algorithm Selection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2026-07-31T09:32:41Z</dcterms:created>
  <dcterms:modified xsi:type="dcterms:W3CDTF">2026-07-31T09:32:41Z</dcterms:modified>
</cp:coreProperties>
</file>